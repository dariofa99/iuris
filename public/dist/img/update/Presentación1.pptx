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60" r:id="rId2"/>
    <p:sldId id="269" r:id="rId3"/>
    <p:sldId id="266" r:id="rId4"/>
    <p:sldId id="271" r:id="rId5"/>
    <p:sldId id="270" r:id="rId6"/>
    <p:sldId id="267" r:id="rId7"/>
    <p:sldId id="262" r:id="rId8"/>
    <p:sldId id="268" r:id="rId9"/>
    <p:sldId id="265" r:id="rId10"/>
    <p:sldId id="263" r:id="rId11"/>
    <p:sldId id="264" r:id="rId12"/>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1AA513"/>
    <a:srgbClr val="EBEDEF"/>
    <a:srgbClr val="F2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5" d="100"/>
          <a:sy n="85" d="100"/>
        </p:scale>
        <p:origin x="59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55CB44-8BF2-A307-EAC4-36C657F83FD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8AFB9F7C-7488-6A7F-9838-775083CD2F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3980B1D1-FCD8-E5ED-A9BC-AD26E86BA0CF}"/>
              </a:ext>
            </a:extLst>
          </p:cNvPr>
          <p:cNvSpPr>
            <a:spLocks noGrp="1"/>
          </p:cNvSpPr>
          <p:nvPr>
            <p:ph type="dt" sz="half" idx="10"/>
          </p:nvPr>
        </p:nvSpPr>
        <p:spPr/>
        <p:txBody>
          <a:bodyPr/>
          <a:lstStyle/>
          <a:p>
            <a:fld id="{F7EB7AD6-F7F4-4A3B-9140-B8481AFC5E85}" type="datetimeFigureOut">
              <a:rPr lang="es-CO" smtClean="0"/>
              <a:t>26/01/2024</a:t>
            </a:fld>
            <a:endParaRPr lang="es-CO"/>
          </a:p>
        </p:txBody>
      </p:sp>
      <p:sp>
        <p:nvSpPr>
          <p:cNvPr id="5" name="Marcador de pie de página 4">
            <a:extLst>
              <a:ext uri="{FF2B5EF4-FFF2-40B4-BE49-F238E27FC236}">
                <a16:creationId xmlns:a16="http://schemas.microsoft.com/office/drawing/2014/main" id="{CDCBB257-0E53-EEC2-8941-65D9AD20CC8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365E16F-3710-84FB-10BD-3462A35DCA5C}"/>
              </a:ext>
            </a:extLst>
          </p:cNvPr>
          <p:cNvSpPr>
            <a:spLocks noGrp="1"/>
          </p:cNvSpPr>
          <p:nvPr>
            <p:ph type="sldNum" sz="quarter" idx="12"/>
          </p:nvPr>
        </p:nvSpPr>
        <p:spPr/>
        <p:txBody>
          <a:bodyPr/>
          <a:lstStyle/>
          <a:p>
            <a:fld id="{A4E8064B-A88A-43E3-ABB0-0607B6330244}" type="slidenum">
              <a:rPr lang="es-CO" smtClean="0"/>
              <a:t>‹Nº›</a:t>
            </a:fld>
            <a:endParaRPr lang="es-CO"/>
          </a:p>
        </p:txBody>
      </p:sp>
    </p:spTree>
    <p:extLst>
      <p:ext uri="{BB962C8B-B14F-4D97-AF65-F5344CB8AC3E}">
        <p14:creationId xmlns:p14="http://schemas.microsoft.com/office/powerpoint/2010/main" val="30409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AB709C-B44E-A865-36F4-77E03967B57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9747F8A-FCAB-5694-6C74-C967126D7D6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55CA1BDC-B27E-70E4-24F7-5AA1B623F645}"/>
              </a:ext>
            </a:extLst>
          </p:cNvPr>
          <p:cNvSpPr>
            <a:spLocks noGrp="1"/>
          </p:cNvSpPr>
          <p:nvPr>
            <p:ph type="dt" sz="half" idx="10"/>
          </p:nvPr>
        </p:nvSpPr>
        <p:spPr/>
        <p:txBody>
          <a:bodyPr/>
          <a:lstStyle/>
          <a:p>
            <a:fld id="{F7EB7AD6-F7F4-4A3B-9140-B8481AFC5E85}" type="datetimeFigureOut">
              <a:rPr lang="es-CO" smtClean="0"/>
              <a:t>26/01/2024</a:t>
            </a:fld>
            <a:endParaRPr lang="es-CO"/>
          </a:p>
        </p:txBody>
      </p:sp>
      <p:sp>
        <p:nvSpPr>
          <p:cNvPr id="5" name="Marcador de pie de página 4">
            <a:extLst>
              <a:ext uri="{FF2B5EF4-FFF2-40B4-BE49-F238E27FC236}">
                <a16:creationId xmlns:a16="http://schemas.microsoft.com/office/drawing/2014/main" id="{4FC2A5B3-4FE8-73E9-9E8C-12D34A611C3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D5750DF-A4B2-0FAC-B820-A6430562A5FF}"/>
              </a:ext>
            </a:extLst>
          </p:cNvPr>
          <p:cNvSpPr>
            <a:spLocks noGrp="1"/>
          </p:cNvSpPr>
          <p:nvPr>
            <p:ph type="sldNum" sz="quarter" idx="12"/>
          </p:nvPr>
        </p:nvSpPr>
        <p:spPr/>
        <p:txBody>
          <a:bodyPr/>
          <a:lstStyle/>
          <a:p>
            <a:fld id="{A4E8064B-A88A-43E3-ABB0-0607B6330244}" type="slidenum">
              <a:rPr lang="es-CO" smtClean="0"/>
              <a:t>‹Nº›</a:t>
            </a:fld>
            <a:endParaRPr lang="es-CO"/>
          </a:p>
        </p:txBody>
      </p:sp>
    </p:spTree>
    <p:extLst>
      <p:ext uri="{BB962C8B-B14F-4D97-AF65-F5344CB8AC3E}">
        <p14:creationId xmlns:p14="http://schemas.microsoft.com/office/powerpoint/2010/main" val="20971609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D489D9-E198-0FE3-D516-9E56D41BAEC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1953CBAE-42C4-5FFF-D67D-D243E1ECCE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070F3EE-2988-482F-917D-CDEF3D0DB8B6}"/>
              </a:ext>
            </a:extLst>
          </p:cNvPr>
          <p:cNvSpPr>
            <a:spLocks noGrp="1"/>
          </p:cNvSpPr>
          <p:nvPr>
            <p:ph type="dt" sz="half" idx="10"/>
          </p:nvPr>
        </p:nvSpPr>
        <p:spPr/>
        <p:txBody>
          <a:bodyPr/>
          <a:lstStyle/>
          <a:p>
            <a:fld id="{F7EB7AD6-F7F4-4A3B-9140-B8481AFC5E85}" type="datetimeFigureOut">
              <a:rPr lang="es-CO" smtClean="0"/>
              <a:t>26/01/2024</a:t>
            </a:fld>
            <a:endParaRPr lang="es-CO"/>
          </a:p>
        </p:txBody>
      </p:sp>
      <p:sp>
        <p:nvSpPr>
          <p:cNvPr id="5" name="Marcador de pie de página 4">
            <a:extLst>
              <a:ext uri="{FF2B5EF4-FFF2-40B4-BE49-F238E27FC236}">
                <a16:creationId xmlns:a16="http://schemas.microsoft.com/office/drawing/2014/main" id="{207B011F-C567-B676-3E73-F85453C8141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FB0F277-AE84-62C8-6783-1D1C72352314}"/>
              </a:ext>
            </a:extLst>
          </p:cNvPr>
          <p:cNvSpPr>
            <a:spLocks noGrp="1"/>
          </p:cNvSpPr>
          <p:nvPr>
            <p:ph type="sldNum" sz="quarter" idx="12"/>
          </p:nvPr>
        </p:nvSpPr>
        <p:spPr/>
        <p:txBody>
          <a:bodyPr/>
          <a:lstStyle/>
          <a:p>
            <a:fld id="{A4E8064B-A88A-43E3-ABB0-0607B6330244}" type="slidenum">
              <a:rPr lang="es-CO" smtClean="0"/>
              <a:t>‹Nº›</a:t>
            </a:fld>
            <a:endParaRPr lang="es-CO"/>
          </a:p>
        </p:txBody>
      </p:sp>
    </p:spTree>
    <p:extLst>
      <p:ext uri="{BB962C8B-B14F-4D97-AF65-F5344CB8AC3E}">
        <p14:creationId xmlns:p14="http://schemas.microsoft.com/office/powerpoint/2010/main" val="3241694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FC83BC-2AB7-CDF2-F6E7-C22322288D8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58B1F9A-B866-4FBD-ADF6-94C702634BA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F5E16FFC-BE66-92E8-2120-8BF844D7B93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DC65EB1F-6224-51F0-925B-47C7BC0F2AD8}"/>
              </a:ext>
            </a:extLst>
          </p:cNvPr>
          <p:cNvSpPr>
            <a:spLocks noGrp="1"/>
          </p:cNvSpPr>
          <p:nvPr>
            <p:ph type="dt" sz="half" idx="10"/>
          </p:nvPr>
        </p:nvSpPr>
        <p:spPr/>
        <p:txBody>
          <a:bodyPr/>
          <a:lstStyle/>
          <a:p>
            <a:fld id="{F7EB7AD6-F7F4-4A3B-9140-B8481AFC5E85}" type="datetimeFigureOut">
              <a:rPr lang="es-CO" smtClean="0"/>
              <a:t>26/01/2024</a:t>
            </a:fld>
            <a:endParaRPr lang="es-CO"/>
          </a:p>
        </p:txBody>
      </p:sp>
      <p:sp>
        <p:nvSpPr>
          <p:cNvPr id="6" name="Marcador de pie de página 5">
            <a:extLst>
              <a:ext uri="{FF2B5EF4-FFF2-40B4-BE49-F238E27FC236}">
                <a16:creationId xmlns:a16="http://schemas.microsoft.com/office/drawing/2014/main" id="{450C827D-DDC7-15DB-28F4-8F97EA71B4A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B3DA4C6-36A2-82CB-2348-5D36B8271127}"/>
              </a:ext>
            </a:extLst>
          </p:cNvPr>
          <p:cNvSpPr>
            <a:spLocks noGrp="1"/>
          </p:cNvSpPr>
          <p:nvPr>
            <p:ph type="sldNum" sz="quarter" idx="12"/>
          </p:nvPr>
        </p:nvSpPr>
        <p:spPr/>
        <p:txBody>
          <a:bodyPr/>
          <a:lstStyle/>
          <a:p>
            <a:fld id="{A4E8064B-A88A-43E3-ABB0-0607B6330244}" type="slidenum">
              <a:rPr lang="es-CO" smtClean="0"/>
              <a:t>‹Nº›</a:t>
            </a:fld>
            <a:endParaRPr lang="es-CO"/>
          </a:p>
        </p:txBody>
      </p:sp>
    </p:spTree>
    <p:extLst>
      <p:ext uri="{BB962C8B-B14F-4D97-AF65-F5344CB8AC3E}">
        <p14:creationId xmlns:p14="http://schemas.microsoft.com/office/powerpoint/2010/main" val="232610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4306B6-33AA-33A9-776D-66AE1129895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86F923-D0CA-4F56-6D3F-612D7623E2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4F82FEF-5C36-DBEC-F6CD-C593EEB94DB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55AA1931-ED0A-0EE6-136C-2BDF9684CB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BC3AC19-3748-1592-5B9D-F42E1CCAD6B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A56104BD-8D6E-74DE-0E61-D9043FED909F}"/>
              </a:ext>
            </a:extLst>
          </p:cNvPr>
          <p:cNvSpPr>
            <a:spLocks noGrp="1"/>
          </p:cNvSpPr>
          <p:nvPr>
            <p:ph type="dt" sz="half" idx="10"/>
          </p:nvPr>
        </p:nvSpPr>
        <p:spPr/>
        <p:txBody>
          <a:bodyPr/>
          <a:lstStyle/>
          <a:p>
            <a:fld id="{F7EB7AD6-F7F4-4A3B-9140-B8481AFC5E85}" type="datetimeFigureOut">
              <a:rPr lang="es-CO" smtClean="0"/>
              <a:t>26/01/2024</a:t>
            </a:fld>
            <a:endParaRPr lang="es-CO"/>
          </a:p>
        </p:txBody>
      </p:sp>
      <p:sp>
        <p:nvSpPr>
          <p:cNvPr id="8" name="Marcador de pie de página 7">
            <a:extLst>
              <a:ext uri="{FF2B5EF4-FFF2-40B4-BE49-F238E27FC236}">
                <a16:creationId xmlns:a16="http://schemas.microsoft.com/office/drawing/2014/main" id="{595D67D2-93E2-DF36-BC2D-49AF0D9F497F}"/>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D2670877-4880-98C3-5C89-A7607C8EB676}"/>
              </a:ext>
            </a:extLst>
          </p:cNvPr>
          <p:cNvSpPr>
            <a:spLocks noGrp="1"/>
          </p:cNvSpPr>
          <p:nvPr>
            <p:ph type="sldNum" sz="quarter" idx="12"/>
          </p:nvPr>
        </p:nvSpPr>
        <p:spPr/>
        <p:txBody>
          <a:bodyPr/>
          <a:lstStyle/>
          <a:p>
            <a:fld id="{A4E8064B-A88A-43E3-ABB0-0607B6330244}" type="slidenum">
              <a:rPr lang="es-CO" smtClean="0"/>
              <a:t>‹Nº›</a:t>
            </a:fld>
            <a:endParaRPr lang="es-CO"/>
          </a:p>
        </p:txBody>
      </p:sp>
    </p:spTree>
    <p:extLst>
      <p:ext uri="{BB962C8B-B14F-4D97-AF65-F5344CB8AC3E}">
        <p14:creationId xmlns:p14="http://schemas.microsoft.com/office/powerpoint/2010/main" val="1268396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94FE6B-026A-42A0-70FD-546804650AB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44F3D1BC-A565-B6AD-D70E-678C4E629308}"/>
              </a:ext>
            </a:extLst>
          </p:cNvPr>
          <p:cNvSpPr>
            <a:spLocks noGrp="1"/>
          </p:cNvSpPr>
          <p:nvPr>
            <p:ph type="dt" sz="half" idx="10"/>
          </p:nvPr>
        </p:nvSpPr>
        <p:spPr/>
        <p:txBody>
          <a:bodyPr/>
          <a:lstStyle/>
          <a:p>
            <a:fld id="{F7EB7AD6-F7F4-4A3B-9140-B8481AFC5E85}" type="datetimeFigureOut">
              <a:rPr lang="es-CO" smtClean="0"/>
              <a:t>26/01/2024</a:t>
            </a:fld>
            <a:endParaRPr lang="es-CO"/>
          </a:p>
        </p:txBody>
      </p:sp>
      <p:sp>
        <p:nvSpPr>
          <p:cNvPr id="4" name="Marcador de pie de página 3">
            <a:extLst>
              <a:ext uri="{FF2B5EF4-FFF2-40B4-BE49-F238E27FC236}">
                <a16:creationId xmlns:a16="http://schemas.microsoft.com/office/drawing/2014/main" id="{45D9D63D-BB24-2C47-6728-BB81A0106589}"/>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F7749E4B-A8BB-96C1-F06F-73178D935C24}"/>
              </a:ext>
            </a:extLst>
          </p:cNvPr>
          <p:cNvSpPr>
            <a:spLocks noGrp="1"/>
          </p:cNvSpPr>
          <p:nvPr>
            <p:ph type="sldNum" sz="quarter" idx="12"/>
          </p:nvPr>
        </p:nvSpPr>
        <p:spPr/>
        <p:txBody>
          <a:bodyPr/>
          <a:lstStyle/>
          <a:p>
            <a:fld id="{A4E8064B-A88A-43E3-ABB0-0607B6330244}" type="slidenum">
              <a:rPr lang="es-CO" smtClean="0"/>
              <a:t>‹Nº›</a:t>
            </a:fld>
            <a:endParaRPr lang="es-CO"/>
          </a:p>
        </p:txBody>
      </p:sp>
    </p:spTree>
    <p:extLst>
      <p:ext uri="{BB962C8B-B14F-4D97-AF65-F5344CB8AC3E}">
        <p14:creationId xmlns:p14="http://schemas.microsoft.com/office/powerpoint/2010/main" val="3548196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07F7F80-FDF1-0DBF-D081-CEE9675886CB}"/>
              </a:ext>
            </a:extLst>
          </p:cNvPr>
          <p:cNvSpPr>
            <a:spLocks noGrp="1"/>
          </p:cNvSpPr>
          <p:nvPr>
            <p:ph type="dt" sz="half" idx="10"/>
          </p:nvPr>
        </p:nvSpPr>
        <p:spPr/>
        <p:txBody>
          <a:bodyPr/>
          <a:lstStyle/>
          <a:p>
            <a:fld id="{F7EB7AD6-F7F4-4A3B-9140-B8481AFC5E85}" type="datetimeFigureOut">
              <a:rPr lang="es-CO" smtClean="0"/>
              <a:t>26/01/2024</a:t>
            </a:fld>
            <a:endParaRPr lang="es-CO"/>
          </a:p>
        </p:txBody>
      </p:sp>
      <p:sp>
        <p:nvSpPr>
          <p:cNvPr id="3" name="Marcador de pie de página 2">
            <a:extLst>
              <a:ext uri="{FF2B5EF4-FFF2-40B4-BE49-F238E27FC236}">
                <a16:creationId xmlns:a16="http://schemas.microsoft.com/office/drawing/2014/main" id="{B9F6234A-FBAD-2BF5-B3E3-84EA05CFDA93}"/>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6A7CF68-FAE3-D9DA-9155-516577329AD3}"/>
              </a:ext>
            </a:extLst>
          </p:cNvPr>
          <p:cNvSpPr>
            <a:spLocks noGrp="1"/>
          </p:cNvSpPr>
          <p:nvPr>
            <p:ph type="sldNum" sz="quarter" idx="12"/>
          </p:nvPr>
        </p:nvSpPr>
        <p:spPr/>
        <p:txBody>
          <a:bodyPr/>
          <a:lstStyle/>
          <a:p>
            <a:fld id="{A4E8064B-A88A-43E3-ABB0-0607B6330244}" type="slidenum">
              <a:rPr lang="es-CO" smtClean="0"/>
              <a:t>‹Nº›</a:t>
            </a:fld>
            <a:endParaRPr lang="es-CO"/>
          </a:p>
        </p:txBody>
      </p:sp>
    </p:spTree>
    <p:extLst>
      <p:ext uri="{BB962C8B-B14F-4D97-AF65-F5344CB8AC3E}">
        <p14:creationId xmlns:p14="http://schemas.microsoft.com/office/powerpoint/2010/main" val="628299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5C14D3-2E24-D3DC-2F72-B2DDE571667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DCF40B0D-8553-3632-2603-48A2A00A00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C0F357C5-0786-BAB4-E727-1C55C27503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8DD5DE6-63CA-FAA6-FD8D-C413C3346E76}"/>
              </a:ext>
            </a:extLst>
          </p:cNvPr>
          <p:cNvSpPr>
            <a:spLocks noGrp="1"/>
          </p:cNvSpPr>
          <p:nvPr>
            <p:ph type="dt" sz="half" idx="10"/>
          </p:nvPr>
        </p:nvSpPr>
        <p:spPr/>
        <p:txBody>
          <a:bodyPr/>
          <a:lstStyle/>
          <a:p>
            <a:fld id="{F7EB7AD6-F7F4-4A3B-9140-B8481AFC5E85}" type="datetimeFigureOut">
              <a:rPr lang="es-CO" smtClean="0"/>
              <a:t>26/01/2024</a:t>
            </a:fld>
            <a:endParaRPr lang="es-CO"/>
          </a:p>
        </p:txBody>
      </p:sp>
      <p:sp>
        <p:nvSpPr>
          <p:cNvPr id="6" name="Marcador de pie de página 5">
            <a:extLst>
              <a:ext uri="{FF2B5EF4-FFF2-40B4-BE49-F238E27FC236}">
                <a16:creationId xmlns:a16="http://schemas.microsoft.com/office/drawing/2014/main" id="{0C547807-D951-8B09-3069-C96FBE86B0D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87D76CF1-EBF5-BD3F-1364-884E1E90A226}"/>
              </a:ext>
            </a:extLst>
          </p:cNvPr>
          <p:cNvSpPr>
            <a:spLocks noGrp="1"/>
          </p:cNvSpPr>
          <p:nvPr>
            <p:ph type="sldNum" sz="quarter" idx="12"/>
          </p:nvPr>
        </p:nvSpPr>
        <p:spPr/>
        <p:txBody>
          <a:bodyPr/>
          <a:lstStyle/>
          <a:p>
            <a:fld id="{A4E8064B-A88A-43E3-ABB0-0607B6330244}" type="slidenum">
              <a:rPr lang="es-CO" smtClean="0"/>
              <a:t>‹Nº›</a:t>
            </a:fld>
            <a:endParaRPr lang="es-CO"/>
          </a:p>
        </p:txBody>
      </p:sp>
    </p:spTree>
    <p:extLst>
      <p:ext uri="{BB962C8B-B14F-4D97-AF65-F5344CB8AC3E}">
        <p14:creationId xmlns:p14="http://schemas.microsoft.com/office/powerpoint/2010/main" val="3664057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C110ED-43E3-FE15-4629-BD2B7422FAD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36C9C620-FD8F-0644-0772-54897B2CC7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FE9C15C0-0485-947C-47CC-B3B9E36EE4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4F39ED6-2929-0374-3430-AF1C07EB22F2}"/>
              </a:ext>
            </a:extLst>
          </p:cNvPr>
          <p:cNvSpPr>
            <a:spLocks noGrp="1"/>
          </p:cNvSpPr>
          <p:nvPr>
            <p:ph type="dt" sz="half" idx="10"/>
          </p:nvPr>
        </p:nvSpPr>
        <p:spPr/>
        <p:txBody>
          <a:bodyPr/>
          <a:lstStyle/>
          <a:p>
            <a:fld id="{F7EB7AD6-F7F4-4A3B-9140-B8481AFC5E85}" type="datetimeFigureOut">
              <a:rPr lang="es-CO" smtClean="0"/>
              <a:t>26/01/2024</a:t>
            </a:fld>
            <a:endParaRPr lang="es-CO"/>
          </a:p>
        </p:txBody>
      </p:sp>
      <p:sp>
        <p:nvSpPr>
          <p:cNvPr id="6" name="Marcador de pie de página 5">
            <a:extLst>
              <a:ext uri="{FF2B5EF4-FFF2-40B4-BE49-F238E27FC236}">
                <a16:creationId xmlns:a16="http://schemas.microsoft.com/office/drawing/2014/main" id="{7993C96A-A8AC-9F15-84BD-9C9FC478018E}"/>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9447AD9-DDD6-1FE6-69DD-7E669AF9E298}"/>
              </a:ext>
            </a:extLst>
          </p:cNvPr>
          <p:cNvSpPr>
            <a:spLocks noGrp="1"/>
          </p:cNvSpPr>
          <p:nvPr>
            <p:ph type="sldNum" sz="quarter" idx="12"/>
          </p:nvPr>
        </p:nvSpPr>
        <p:spPr/>
        <p:txBody>
          <a:bodyPr/>
          <a:lstStyle/>
          <a:p>
            <a:fld id="{A4E8064B-A88A-43E3-ABB0-0607B6330244}" type="slidenum">
              <a:rPr lang="es-CO" smtClean="0"/>
              <a:t>‹Nº›</a:t>
            </a:fld>
            <a:endParaRPr lang="es-CO"/>
          </a:p>
        </p:txBody>
      </p:sp>
    </p:spTree>
    <p:extLst>
      <p:ext uri="{BB962C8B-B14F-4D97-AF65-F5344CB8AC3E}">
        <p14:creationId xmlns:p14="http://schemas.microsoft.com/office/powerpoint/2010/main" val="382853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9B99B6-61B3-239D-01A0-98B5D1D9F2A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15853849-0C92-D374-0A1B-806FF023CE2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84F4F24C-F707-6760-59DC-0D7B77C1A556}"/>
              </a:ext>
            </a:extLst>
          </p:cNvPr>
          <p:cNvSpPr>
            <a:spLocks noGrp="1"/>
          </p:cNvSpPr>
          <p:nvPr>
            <p:ph type="dt" sz="half" idx="10"/>
          </p:nvPr>
        </p:nvSpPr>
        <p:spPr/>
        <p:txBody>
          <a:bodyPr/>
          <a:lstStyle/>
          <a:p>
            <a:fld id="{F7EB7AD6-F7F4-4A3B-9140-B8481AFC5E85}" type="datetimeFigureOut">
              <a:rPr lang="es-CO" smtClean="0"/>
              <a:t>26/01/2024</a:t>
            </a:fld>
            <a:endParaRPr lang="es-CO"/>
          </a:p>
        </p:txBody>
      </p:sp>
      <p:sp>
        <p:nvSpPr>
          <p:cNvPr id="5" name="Marcador de pie de página 4">
            <a:extLst>
              <a:ext uri="{FF2B5EF4-FFF2-40B4-BE49-F238E27FC236}">
                <a16:creationId xmlns:a16="http://schemas.microsoft.com/office/drawing/2014/main" id="{9BC47381-4E9A-15AD-84BF-FA78AE99F7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FBC33FB-9FE6-31EC-52EE-07603EB83F0D}"/>
              </a:ext>
            </a:extLst>
          </p:cNvPr>
          <p:cNvSpPr>
            <a:spLocks noGrp="1"/>
          </p:cNvSpPr>
          <p:nvPr>
            <p:ph type="sldNum" sz="quarter" idx="12"/>
          </p:nvPr>
        </p:nvSpPr>
        <p:spPr/>
        <p:txBody>
          <a:bodyPr/>
          <a:lstStyle/>
          <a:p>
            <a:fld id="{A4E8064B-A88A-43E3-ABB0-0607B6330244}" type="slidenum">
              <a:rPr lang="es-CO" smtClean="0"/>
              <a:t>‹Nº›</a:t>
            </a:fld>
            <a:endParaRPr lang="es-CO"/>
          </a:p>
        </p:txBody>
      </p:sp>
    </p:spTree>
    <p:extLst>
      <p:ext uri="{BB962C8B-B14F-4D97-AF65-F5344CB8AC3E}">
        <p14:creationId xmlns:p14="http://schemas.microsoft.com/office/powerpoint/2010/main" val="1239203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9047D83-E089-45A9-A75B-7DC0EFA1F1F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C503AA75-2D2C-E99E-9EE9-D9EA399EAC2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9402393-37C0-C0DD-5274-3418894A77DA}"/>
              </a:ext>
            </a:extLst>
          </p:cNvPr>
          <p:cNvSpPr>
            <a:spLocks noGrp="1"/>
          </p:cNvSpPr>
          <p:nvPr>
            <p:ph type="dt" sz="half" idx="10"/>
          </p:nvPr>
        </p:nvSpPr>
        <p:spPr/>
        <p:txBody>
          <a:bodyPr/>
          <a:lstStyle/>
          <a:p>
            <a:fld id="{F7EB7AD6-F7F4-4A3B-9140-B8481AFC5E85}" type="datetimeFigureOut">
              <a:rPr lang="es-CO" smtClean="0"/>
              <a:t>26/01/2024</a:t>
            </a:fld>
            <a:endParaRPr lang="es-CO"/>
          </a:p>
        </p:txBody>
      </p:sp>
      <p:sp>
        <p:nvSpPr>
          <p:cNvPr id="5" name="Marcador de pie de página 4">
            <a:extLst>
              <a:ext uri="{FF2B5EF4-FFF2-40B4-BE49-F238E27FC236}">
                <a16:creationId xmlns:a16="http://schemas.microsoft.com/office/drawing/2014/main" id="{17C41E3B-1E1E-A82F-EA08-972C732EE7D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5BF301D-046C-240E-89B1-7E66495C247D}"/>
              </a:ext>
            </a:extLst>
          </p:cNvPr>
          <p:cNvSpPr>
            <a:spLocks noGrp="1"/>
          </p:cNvSpPr>
          <p:nvPr>
            <p:ph type="sldNum" sz="quarter" idx="12"/>
          </p:nvPr>
        </p:nvSpPr>
        <p:spPr/>
        <p:txBody>
          <a:bodyPr/>
          <a:lstStyle/>
          <a:p>
            <a:fld id="{A4E8064B-A88A-43E3-ABB0-0607B6330244}" type="slidenum">
              <a:rPr lang="es-CO" smtClean="0"/>
              <a:t>‹Nº›</a:t>
            </a:fld>
            <a:endParaRPr lang="es-CO"/>
          </a:p>
        </p:txBody>
      </p:sp>
    </p:spTree>
    <p:extLst>
      <p:ext uri="{BB962C8B-B14F-4D97-AF65-F5344CB8AC3E}">
        <p14:creationId xmlns:p14="http://schemas.microsoft.com/office/powerpoint/2010/main" val="1781288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E1767F5-7B90-450E-CFDE-CDC1EDF50B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FFA260C-432A-5E26-7F95-2433870E43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5CA01C7C-8F47-ED11-D27D-28FA7A88AA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EB7AD6-F7F4-4A3B-9140-B8481AFC5E85}" type="datetimeFigureOut">
              <a:rPr lang="es-CO" smtClean="0"/>
              <a:t>26/01/2024</a:t>
            </a:fld>
            <a:endParaRPr lang="es-CO"/>
          </a:p>
        </p:txBody>
      </p:sp>
      <p:sp>
        <p:nvSpPr>
          <p:cNvPr id="5" name="Marcador de pie de página 4">
            <a:extLst>
              <a:ext uri="{FF2B5EF4-FFF2-40B4-BE49-F238E27FC236}">
                <a16:creationId xmlns:a16="http://schemas.microsoft.com/office/drawing/2014/main" id="{8F61BA5B-37CA-74A7-8EED-2EF86245E1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B3DD81E8-2AC5-134F-ADB3-076FA17AC4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E8064B-A88A-43E3-ABB0-0607B6330244}" type="slidenum">
              <a:rPr lang="es-CO" smtClean="0"/>
              <a:t>‹Nº›</a:t>
            </a:fld>
            <a:endParaRPr lang="es-CO"/>
          </a:p>
        </p:txBody>
      </p:sp>
    </p:spTree>
    <p:extLst>
      <p:ext uri="{BB962C8B-B14F-4D97-AF65-F5344CB8AC3E}">
        <p14:creationId xmlns:p14="http://schemas.microsoft.com/office/powerpoint/2010/main" val="358791293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pic>
        <p:nvPicPr>
          <p:cNvPr id="3" name="logo">
            <a:extLst>
              <a:ext uri="{FF2B5EF4-FFF2-40B4-BE49-F238E27FC236}">
                <a16:creationId xmlns:a16="http://schemas.microsoft.com/office/drawing/2014/main" id="{CB7069CB-A915-E9BA-0362-5B26956151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5519" y="3350269"/>
            <a:ext cx="3426481" cy="3473976"/>
          </a:xfrm>
          <a:prstGeom prst="rect">
            <a:avLst/>
          </a:prstGeom>
        </p:spPr>
      </p:pic>
      <p:sp>
        <p:nvSpPr>
          <p:cNvPr id="17" name="Rectángulo 16">
            <a:extLst>
              <a:ext uri="{FF2B5EF4-FFF2-40B4-BE49-F238E27FC236}">
                <a16:creationId xmlns:a16="http://schemas.microsoft.com/office/drawing/2014/main" id="{A8B8087A-F01D-7BF2-7B9B-803D42A31868}"/>
              </a:ext>
            </a:extLst>
          </p:cNvPr>
          <p:cNvSpPr/>
          <p:nvPr/>
        </p:nvSpPr>
        <p:spPr>
          <a:xfrm>
            <a:off x="0" y="0"/>
            <a:ext cx="12192000" cy="6858000"/>
          </a:xfrm>
          <a:prstGeom prst="rect">
            <a:avLst/>
          </a:prstGeom>
          <a:solidFill>
            <a:schemeClr val="tx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n>
                <a:solidFill>
                  <a:schemeClr val="accent1"/>
                </a:solidFill>
              </a:ln>
            </a:endParaRPr>
          </a:p>
        </p:txBody>
      </p:sp>
      <p:sp>
        <p:nvSpPr>
          <p:cNvPr id="2" name="CuadroTexto 1">
            <a:extLst>
              <a:ext uri="{FF2B5EF4-FFF2-40B4-BE49-F238E27FC236}">
                <a16:creationId xmlns:a16="http://schemas.microsoft.com/office/drawing/2014/main" id="{4BE15536-8584-618A-A38B-56A2C9028692}"/>
              </a:ext>
            </a:extLst>
          </p:cNvPr>
          <p:cNvSpPr txBox="1"/>
          <p:nvPr/>
        </p:nvSpPr>
        <p:spPr>
          <a:xfrm>
            <a:off x="318426" y="445008"/>
            <a:ext cx="11268635" cy="6494085"/>
          </a:xfrm>
          <a:prstGeom prst="rect">
            <a:avLst/>
          </a:prstGeom>
          <a:noFill/>
        </p:spPr>
        <p:txBody>
          <a:bodyPr wrap="square" rtlCol="0">
            <a:spAutoFit/>
          </a:bodyPr>
          <a:lstStyle/>
          <a:p>
            <a:pPr algn="ctr"/>
            <a:r>
              <a:rPr lang="es-MX" sz="3600" dirty="0">
                <a:solidFill>
                  <a:schemeClr val="bg1"/>
                </a:solidFill>
              </a:rPr>
              <a:t>Ahora IURIS le permite </a:t>
            </a:r>
            <a:r>
              <a:rPr lang="es-MX" sz="3600" b="1" dirty="0">
                <a:solidFill>
                  <a:schemeClr val="accent4">
                    <a:lumMod val="60000"/>
                    <a:lumOff val="40000"/>
                  </a:schemeClr>
                </a:solidFill>
              </a:rPr>
              <a:t>Dar de baja </a:t>
            </a:r>
            <a:r>
              <a:rPr lang="es-MX" sz="3600" dirty="0">
                <a:solidFill>
                  <a:schemeClr val="bg1"/>
                </a:solidFill>
              </a:rPr>
              <a:t>y enviar a </a:t>
            </a:r>
            <a:r>
              <a:rPr lang="es-MX" sz="3600" b="1" dirty="0">
                <a:solidFill>
                  <a:schemeClr val="accent4">
                    <a:lumMod val="60000"/>
                    <a:lumOff val="40000"/>
                  </a:schemeClr>
                </a:solidFill>
              </a:rPr>
              <a:t>Revisión</a:t>
            </a:r>
            <a:r>
              <a:rPr lang="es-MX" sz="3600" dirty="0">
                <a:solidFill>
                  <a:schemeClr val="bg1"/>
                </a:solidFill>
              </a:rPr>
              <a:t> los expedientes!</a:t>
            </a:r>
          </a:p>
          <a:p>
            <a:pPr algn="just"/>
            <a:endParaRPr lang="es-MX" sz="3600" dirty="0">
              <a:solidFill>
                <a:schemeClr val="bg1"/>
              </a:solidFill>
            </a:endParaRPr>
          </a:p>
          <a:p>
            <a:pPr algn="just"/>
            <a:r>
              <a:rPr lang="es-MX" sz="3600" dirty="0">
                <a:solidFill>
                  <a:schemeClr val="bg1"/>
                </a:solidFill>
              </a:rPr>
              <a:t>Cuando un expediente es </a:t>
            </a:r>
            <a:r>
              <a:rPr lang="es-MX" sz="3600" b="1" dirty="0">
                <a:solidFill>
                  <a:schemeClr val="accent4">
                    <a:lumMod val="60000"/>
                    <a:lumOff val="40000"/>
                  </a:schemeClr>
                </a:solidFill>
              </a:rPr>
              <a:t>Dado de baja </a:t>
            </a:r>
            <a:r>
              <a:rPr lang="es-MX" sz="3600" dirty="0">
                <a:solidFill>
                  <a:schemeClr val="bg1"/>
                </a:solidFill>
              </a:rPr>
              <a:t>se asignará un docente y estudiante de pruebas.</a:t>
            </a:r>
          </a:p>
          <a:p>
            <a:pPr algn="just"/>
            <a:endParaRPr lang="es-MX" sz="3600" dirty="0">
              <a:solidFill>
                <a:schemeClr val="bg1"/>
              </a:solidFill>
            </a:endParaRPr>
          </a:p>
          <a:p>
            <a:pPr algn="just"/>
            <a:r>
              <a:rPr lang="es-MX" sz="3600" dirty="0">
                <a:solidFill>
                  <a:schemeClr val="bg1"/>
                </a:solidFill>
              </a:rPr>
              <a:t>Cuando un expediente es </a:t>
            </a:r>
            <a:r>
              <a:rPr lang="es-MX" sz="3600" b="1" dirty="0">
                <a:solidFill>
                  <a:schemeClr val="accent4">
                    <a:lumMod val="60000"/>
                    <a:lumOff val="40000"/>
                  </a:schemeClr>
                </a:solidFill>
              </a:rPr>
              <a:t>Enviado a revisión </a:t>
            </a:r>
            <a:r>
              <a:rPr lang="es-MX" sz="3600" dirty="0">
                <a:solidFill>
                  <a:schemeClr val="bg1"/>
                </a:solidFill>
              </a:rPr>
              <a:t>se mantendrá el docente y estudiante pero no se asignarán notas por el sistema</a:t>
            </a:r>
            <a:endParaRPr lang="es-MX" sz="3600" dirty="0"/>
          </a:p>
          <a:p>
            <a:endParaRPr lang="es-MX" sz="3600" dirty="0"/>
          </a:p>
          <a:p>
            <a:endParaRPr lang="es-MX" sz="3600" dirty="0"/>
          </a:p>
          <a:p>
            <a:r>
              <a:rPr lang="es-CO" sz="2000" dirty="0" err="1">
                <a:solidFill>
                  <a:schemeClr val="bg1"/>
                </a:solidFill>
              </a:rPr>
              <a:t>Amatai</a:t>
            </a:r>
            <a:r>
              <a:rPr lang="es-CO" sz="2000" dirty="0">
                <a:solidFill>
                  <a:schemeClr val="bg1"/>
                </a:solidFill>
              </a:rPr>
              <a:t> SAS</a:t>
            </a:r>
          </a:p>
        </p:txBody>
      </p:sp>
    </p:spTree>
    <p:extLst>
      <p:ext uri="{BB962C8B-B14F-4D97-AF65-F5344CB8AC3E}">
        <p14:creationId xmlns:p14="http://schemas.microsoft.com/office/powerpoint/2010/main" val="1262244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logo">
            <a:extLst>
              <a:ext uri="{FF2B5EF4-FFF2-40B4-BE49-F238E27FC236}">
                <a16:creationId xmlns:a16="http://schemas.microsoft.com/office/drawing/2014/main" id="{CB7069CB-A915-E9BA-0362-5B26956151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5519" y="3350269"/>
            <a:ext cx="3426481" cy="3473976"/>
          </a:xfrm>
          <a:prstGeom prst="rect">
            <a:avLst/>
          </a:prstGeom>
        </p:spPr>
      </p:pic>
      <p:sp>
        <p:nvSpPr>
          <p:cNvPr id="17" name="Rectángulo 16">
            <a:extLst>
              <a:ext uri="{FF2B5EF4-FFF2-40B4-BE49-F238E27FC236}">
                <a16:creationId xmlns:a16="http://schemas.microsoft.com/office/drawing/2014/main" id="{A8B8087A-F01D-7BF2-7B9B-803D42A31868}"/>
              </a:ext>
            </a:extLst>
          </p:cNvPr>
          <p:cNvSpPr/>
          <p:nvPr/>
        </p:nvSpPr>
        <p:spPr>
          <a:xfrm>
            <a:off x="0" y="0"/>
            <a:ext cx="12192000" cy="6858000"/>
          </a:xfrm>
          <a:prstGeom prst="rect">
            <a:avLst/>
          </a:prstGeom>
          <a:solidFill>
            <a:schemeClr val="tx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n>
                <a:solidFill>
                  <a:schemeClr val="accent1"/>
                </a:solidFill>
              </a:ln>
            </a:endParaRPr>
          </a:p>
        </p:txBody>
      </p:sp>
      <p:sp>
        <p:nvSpPr>
          <p:cNvPr id="2" name="CuadroTexto 1">
            <a:extLst>
              <a:ext uri="{FF2B5EF4-FFF2-40B4-BE49-F238E27FC236}">
                <a16:creationId xmlns:a16="http://schemas.microsoft.com/office/drawing/2014/main" id="{4BE15536-8584-618A-A38B-56A2C9028692}"/>
              </a:ext>
            </a:extLst>
          </p:cNvPr>
          <p:cNvSpPr txBox="1"/>
          <p:nvPr/>
        </p:nvSpPr>
        <p:spPr>
          <a:xfrm>
            <a:off x="318426" y="445008"/>
            <a:ext cx="11268635" cy="6494085"/>
          </a:xfrm>
          <a:prstGeom prst="rect">
            <a:avLst/>
          </a:prstGeom>
          <a:noFill/>
        </p:spPr>
        <p:txBody>
          <a:bodyPr wrap="square" rtlCol="0">
            <a:spAutoFit/>
          </a:bodyPr>
          <a:lstStyle/>
          <a:p>
            <a:r>
              <a:rPr lang="es-MX" sz="3600" dirty="0">
                <a:solidFill>
                  <a:schemeClr val="bg1"/>
                </a:solidFill>
              </a:rPr>
              <a:t>Ahora IURIS permite </a:t>
            </a:r>
            <a:r>
              <a:rPr lang="es-MX" sz="3600" b="1" dirty="0">
                <a:solidFill>
                  <a:schemeClr val="accent4">
                    <a:lumMod val="60000"/>
                    <a:lumOff val="40000"/>
                  </a:schemeClr>
                </a:solidFill>
              </a:rPr>
              <a:t>Evaluar </a:t>
            </a:r>
            <a:r>
              <a:rPr lang="es-MX" sz="3600" dirty="0">
                <a:solidFill>
                  <a:schemeClr val="bg1"/>
                </a:solidFill>
              </a:rPr>
              <a:t>y </a:t>
            </a:r>
            <a:r>
              <a:rPr lang="es-MX" sz="3600" b="1" dirty="0">
                <a:solidFill>
                  <a:schemeClr val="accent4">
                    <a:lumMod val="60000"/>
                    <a:lumOff val="40000"/>
                  </a:schemeClr>
                </a:solidFill>
              </a:rPr>
              <a:t>Cerrar</a:t>
            </a:r>
            <a:r>
              <a:rPr lang="es-MX" sz="3600" dirty="0">
                <a:solidFill>
                  <a:schemeClr val="bg1"/>
                </a:solidFill>
              </a:rPr>
              <a:t> los casos de asesoría que estén en estado </a:t>
            </a:r>
            <a:r>
              <a:rPr lang="es-MX" sz="3600" b="1" dirty="0">
                <a:solidFill>
                  <a:schemeClr val="accent4">
                    <a:lumMod val="60000"/>
                    <a:lumOff val="40000"/>
                  </a:schemeClr>
                </a:solidFill>
              </a:rPr>
              <a:t>Cerrado (sistema) </a:t>
            </a:r>
            <a:r>
              <a:rPr lang="es-MX" sz="3600" b="1" dirty="0">
                <a:solidFill>
                  <a:schemeClr val="bg1"/>
                </a:solidFill>
              </a:rPr>
              <a:t>durante el periodo activo.</a:t>
            </a:r>
            <a:endParaRPr lang="es-MX" sz="3600" dirty="0">
              <a:solidFill>
                <a:schemeClr val="bg1"/>
              </a:solidFill>
            </a:endParaRPr>
          </a:p>
          <a:p>
            <a:pPr algn="just"/>
            <a:endParaRPr lang="es-MX" sz="3600" dirty="0">
              <a:solidFill>
                <a:schemeClr val="bg1"/>
              </a:solidFill>
            </a:endParaRPr>
          </a:p>
          <a:p>
            <a:r>
              <a:rPr lang="es-MX" sz="3600" dirty="0">
                <a:solidFill>
                  <a:schemeClr val="bg1"/>
                </a:solidFill>
              </a:rPr>
              <a:t>Anteriormente esta funcionalidad estaba disponible solo durante el corte activo.</a:t>
            </a:r>
          </a:p>
          <a:p>
            <a:endParaRPr lang="es-MX" sz="3600" dirty="0"/>
          </a:p>
          <a:p>
            <a:endParaRPr lang="es-MX" sz="3600" dirty="0"/>
          </a:p>
          <a:p>
            <a:endParaRPr lang="es-MX" sz="3600" dirty="0"/>
          </a:p>
          <a:p>
            <a:endParaRPr lang="es-MX" sz="3600" dirty="0"/>
          </a:p>
          <a:p>
            <a:endParaRPr lang="es-MX" sz="3600" dirty="0"/>
          </a:p>
          <a:p>
            <a:r>
              <a:rPr lang="es-CO" sz="2000" dirty="0" err="1">
                <a:solidFill>
                  <a:schemeClr val="bg1"/>
                </a:solidFill>
              </a:rPr>
              <a:t>Amatai</a:t>
            </a:r>
            <a:r>
              <a:rPr lang="es-CO" sz="2000" dirty="0">
                <a:solidFill>
                  <a:schemeClr val="bg1"/>
                </a:solidFill>
              </a:rPr>
              <a:t> SAS</a:t>
            </a:r>
          </a:p>
        </p:txBody>
      </p:sp>
    </p:spTree>
    <p:extLst>
      <p:ext uri="{BB962C8B-B14F-4D97-AF65-F5344CB8AC3E}">
        <p14:creationId xmlns:p14="http://schemas.microsoft.com/office/powerpoint/2010/main" val="482223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logo">
            <a:extLst>
              <a:ext uri="{FF2B5EF4-FFF2-40B4-BE49-F238E27FC236}">
                <a16:creationId xmlns:a16="http://schemas.microsoft.com/office/drawing/2014/main" id="{CB7069CB-A915-E9BA-0362-5B26956151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5519" y="3350269"/>
            <a:ext cx="3426481" cy="3473976"/>
          </a:xfrm>
          <a:prstGeom prst="rect">
            <a:avLst/>
          </a:prstGeom>
        </p:spPr>
      </p:pic>
      <p:sp>
        <p:nvSpPr>
          <p:cNvPr id="17" name="Rectángulo 16">
            <a:extLst>
              <a:ext uri="{FF2B5EF4-FFF2-40B4-BE49-F238E27FC236}">
                <a16:creationId xmlns:a16="http://schemas.microsoft.com/office/drawing/2014/main" id="{A8B8087A-F01D-7BF2-7B9B-803D42A31868}"/>
              </a:ext>
            </a:extLst>
          </p:cNvPr>
          <p:cNvSpPr/>
          <p:nvPr/>
        </p:nvSpPr>
        <p:spPr>
          <a:xfrm>
            <a:off x="0" y="0"/>
            <a:ext cx="12192000"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n>
                <a:solidFill>
                  <a:schemeClr val="accent1"/>
                </a:solidFill>
              </a:ln>
            </a:endParaRPr>
          </a:p>
        </p:txBody>
      </p:sp>
      <p:sp>
        <p:nvSpPr>
          <p:cNvPr id="2" name="CuadroTexto 1">
            <a:extLst>
              <a:ext uri="{FF2B5EF4-FFF2-40B4-BE49-F238E27FC236}">
                <a16:creationId xmlns:a16="http://schemas.microsoft.com/office/drawing/2014/main" id="{4BE15536-8584-618A-A38B-56A2C9028692}"/>
              </a:ext>
            </a:extLst>
          </p:cNvPr>
          <p:cNvSpPr txBox="1"/>
          <p:nvPr/>
        </p:nvSpPr>
        <p:spPr>
          <a:xfrm>
            <a:off x="318426" y="445008"/>
            <a:ext cx="11268635" cy="7602081"/>
          </a:xfrm>
          <a:prstGeom prst="rect">
            <a:avLst/>
          </a:prstGeom>
          <a:noFill/>
        </p:spPr>
        <p:txBody>
          <a:bodyPr wrap="square" rtlCol="0">
            <a:spAutoFit/>
          </a:bodyPr>
          <a:lstStyle/>
          <a:p>
            <a:pPr algn="ctr"/>
            <a:endParaRPr lang="es-MX" sz="3600" dirty="0">
              <a:solidFill>
                <a:schemeClr val="bg1"/>
              </a:solidFill>
            </a:endParaRPr>
          </a:p>
          <a:p>
            <a:pPr algn="ctr"/>
            <a:r>
              <a:rPr lang="es-MX" sz="3600" dirty="0">
                <a:solidFill>
                  <a:schemeClr val="bg1"/>
                </a:solidFill>
              </a:rPr>
              <a:t>Para </a:t>
            </a:r>
            <a:r>
              <a:rPr lang="es-MX" sz="3600" b="1" dirty="0">
                <a:solidFill>
                  <a:schemeClr val="accent4">
                    <a:lumMod val="60000"/>
                    <a:lumOff val="40000"/>
                  </a:schemeClr>
                </a:solidFill>
              </a:rPr>
              <a:t>Evaluar y cerrar caso </a:t>
            </a:r>
            <a:r>
              <a:rPr lang="es-MX" sz="3600" dirty="0">
                <a:solidFill>
                  <a:schemeClr val="bg1"/>
                </a:solidFill>
              </a:rPr>
              <a:t>en administración del caso, pestaña </a:t>
            </a:r>
            <a:r>
              <a:rPr lang="es-MX" sz="3600" b="1" i="1" dirty="0">
                <a:solidFill>
                  <a:schemeClr val="bg1"/>
                </a:solidFill>
              </a:rPr>
              <a:t>Cierre de caso </a:t>
            </a:r>
            <a:r>
              <a:rPr lang="es-MX" sz="3600" dirty="0">
                <a:solidFill>
                  <a:schemeClr val="bg1"/>
                </a:solidFill>
              </a:rPr>
              <a:t>de clic en el botón </a:t>
            </a:r>
            <a:r>
              <a:rPr lang="es-MX" sz="3600" b="1" i="1" dirty="0">
                <a:solidFill>
                  <a:schemeClr val="bg1"/>
                </a:solidFill>
              </a:rPr>
              <a:t>Volver a evaluar y cerrar caso</a:t>
            </a: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r>
              <a:rPr lang="es-CO" sz="2000" dirty="0" err="1">
                <a:solidFill>
                  <a:schemeClr val="bg1"/>
                </a:solidFill>
              </a:rPr>
              <a:t>Amatai</a:t>
            </a:r>
            <a:r>
              <a:rPr lang="es-CO" sz="2000" dirty="0">
                <a:solidFill>
                  <a:schemeClr val="bg1"/>
                </a:solidFill>
              </a:rPr>
              <a:t> SAS</a:t>
            </a:r>
          </a:p>
        </p:txBody>
      </p:sp>
      <p:pic>
        <p:nvPicPr>
          <p:cNvPr id="5" name="Imagen 4">
            <a:extLst>
              <a:ext uri="{FF2B5EF4-FFF2-40B4-BE49-F238E27FC236}">
                <a16:creationId xmlns:a16="http://schemas.microsoft.com/office/drawing/2014/main" id="{0AFBDE35-35CA-75AC-DD52-27FE1D7052A7}"/>
              </a:ext>
            </a:extLst>
          </p:cNvPr>
          <p:cNvPicPr>
            <a:picLocks noChangeAspect="1"/>
          </p:cNvPicPr>
          <p:nvPr/>
        </p:nvPicPr>
        <p:blipFill>
          <a:blip r:embed="rId3"/>
          <a:stretch>
            <a:fillRect/>
          </a:stretch>
        </p:blipFill>
        <p:spPr>
          <a:xfrm>
            <a:off x="220471" y="2926036"/>
            <a:ext cx="11751058" cy="1320012"/>
          </a:xfrm>
          <a:prstGeom prst="rect">
            <a:avLst/>
          </a:prstGeom>
        </p:spPr>
      </p:pic>
      <p:sp>
        <p:nvSpPr>
          <p:cNvPr id="9" name="Rectángulo 8">
            <a:extLst>
              <a:ext uri="{FF2B5EF4-FFF2-40B4-BE49-F238E27FC236}">
                <a16:creationId xmlns:a16="http://schemas.microsoft.com/office/drawing/2014/main" id="{19CE3575-09A8-0984-60D0-CDEE01EEEB27}"/>
              </a:ext>
            </a:extLst>
          </p:cNvPr>
          <p:cNvSpPr/>
          <p:nvPr/>
        </p:nvSpPr>
        <p:spPr>
          <a:xfrm>
            <a:off x="8023412" y="3756212"/>
            <a:ext cx="3882075" cy="48983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CO" dirty="0"/>
          </a:p>
        </p:txBody>
      </p:sp>
      <p:pic>
        <p:nvPicPr>
          <p:cNvPr id="10" name="Imagen 9">
            <a:extLst>
              <a:ext uri="{FF2B5EF4-FFF2-40B4-BE49-F238E27FC236}">
                <a16:creationId xmlns:a16="http://schemas.microsoft.com/office/drawing/2014/main" id="{53A2EAAA-5EE2-C05E-D295-9FF8055A8272}"/>
              </a:ext>
            </a:extLst>
          </p:cNvPr>
          <p:cNvPicPr>
            <a:picLocks noChangeAspect="1"/>
          </p:cNvPicPr>
          <p:nvPr/>
        </p:nvPicPr>
        <p:blipFill>
          <a:blip r:embed="rId4"/>
          <a:stretch>
            <a:fillRect/>
          </a:stretch>
        </p:blipFill>
        <p:spPr>
          <a:xfrm>
            <a:off x="9054249" y="3657600"/>
            <a:ext cx="2453953" cy="510988"/>
          </a:xfrm>
          <a:prstGeom prst="rect">
            <a:avLst/>
          </a:prstGeom>
        </p:spPr>
      </p:pic>
      <p:pic>
        <p:nvPicPr>
          <p:cNvPr id="8" name="Gráfico 7" descr="Lupa">
            <a:extLst>
              <a:ext uri="{FF2B5EF4-FFF2-40B4-BE49-F238E27FC236}">
                <a16:creationId xmlns:a16="http://schemas.microsoft.com/office/drawing/2014/main" id="{70287BDA-E56B-9DF6-26A8-A0F53C4766D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5689775">
            <a:off x="7618904" y="2159922"/>
            <a:ext cx="4373944" cy="4584270"/>
          </a:xfrm>
          <a:prstGeom prst="rect">
            <a:avLst/>
          </a:prstGeom>
        </p:spPr>
      </p:pic>
    </p:spTree>
    <p:extLst>
      <p:ext uri="{BB962C8B-B14F-4D97-AF65-F5344CB8AC3E}">
        <p14:creationId xmlns:p14="http://schemas.microsoft.com/office/powerpoint/2010/main" val="2129238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logo">
            <a:extLst>
              <a:ext uri="{FF2B5EF4-FFF2-40B4-BE49-F238E27FC236}">
                <a16:creationId xmlns:a16="http://schemas.microsoft.com/office/drawing/2014/main" id="{CB7069CB-A915-E9BA-0362-5B26956151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5519" y="3350269"/>
            <a:ext cx="3426481" cy="3473976"/>
          </a:xfrm>
          <a:prstGeom prst="rect">
            <a:avLst/>
          </a:prstGeom>
        </p:spPr>
      </p:pic>
      <p:sp>
        <p:nvSpPr>
          <p:cNvPr id="17" name="Rectángulo 16">
            <a:extLst>
              <a:ext uri="{FF2B5EF4-FFF2-40B4-BE49-F238E27FC236}">
                <a16:creationId xmlns:a16="http://schemas.microsoft.com/office/drawing/2014/main" id="{A8B8087A-F01D-7BF2-7B9B-803D42A31868}"/>
              </a:ext>
            </a:extLst>
          </p:cNvPr>
          <p:cNvSpPr/>
          <p:nvPr/>
        </p:nvSpPr>
        <p:spPr>
          <a:xfrm>
            <a:off x="0" y="0"/>
            <a:ext cx="12192000"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n>
                <a:solidFill>
                  <a:schemeClr val="accent1"/>
                </a:solidFill>
              </a:ln>
            </a:endParaRPr>
          </a:p>
        </p:txBody>
      </p:sp>
      <p:sp>
        <p:nvSpPr>
          <p:cNvPr id="10" name="CuadroTexto 9">
            <a:extLst>
              <a:ext uri="{FF2B5EF4-FFF2-40B4-BE49-F238E27FC236}">
                <a16:creationId xmlns:a16="http://schemas.microsoft.com/office/drawing/2014/main" id="{C69317F1-3BC8-CC98-94BA-756E40E92416}"/>
              </a:ext>
            </a:extLst>
          </p:cNvPr>
          <p:cNvSpPr txBox="1"/>
          <p:nvPr/>
        </p:nvSpPr>
        <p:spPr>
          <a:xfrm>
            <a:off x="1280159" y="5503453"/>
            <a:ext cx="9924288" cy="1200329"/>
          </a:xfrm>
          <a:prstGeom prst="rect">
            <a:avLst/>
          </a:prstGeom>
          <a:noFill/>
        </p:spPr>
        <p:txBody>
          <a:bodyPr wrap="square">
            <a:spAutoFit/>
          </a:bodyPr>
          <a:lstStyle/>
          <a:p>
            <a:pPr algn="ctr"/>
            <a:r>
              <a:rPr lang="es-MX" sz="3600" dirty="0">
                <a:solidFill>
                  <a:schemeClr val="bg1"/>
                </a:solidFill>
              </a:rPr>
              <a:t>Rellene los campo con las notas correspondientes y el debido concepto y presione </a:t>
            </a:r>
            <a:r>
              <a:rPr lang="es-MX" sz="3600" b="1" dirty="0">
                <a:solidFill>
                  <a:schemeClr val="accent4">
                    <a:lumMod val="60000"/>
                    <a:lumOff val="40000"/>
                  </a:schemeClr>
                </a:solidFill>
              </a:rPr>
              <a:t>Enviar</a:t>
            </a:r>
            <a:endParaRPr lang="es-MX" sz="3600" b="1" i="1" dirty="0">
              <a:solidFill>
                <a:schemeClr val="accent4">
                  <a:lumMod val="60000"/>
                  <a:lumOff val="40000"/>
                </a:schemeClr>
              </a:solidFill>
            </a:endParaRPr>
          </a:p>
        </p:txBody>
      </p:sp>
      <p:pic>
        <p:nvPicPr>
          <p:cNvPr id="9" name="Imagen 8">
            <a:extLst>
              <a:ext uri="{FF2B5EF4-FFF2-40B4-BE49-F238E27FC236}">
                <a16:creationId xmlns:a16="http://schemas.microsoft.com/office/drawing/2014/main" id="{148AB8EB-5199-7878-EFD1-0403F7A0D122}"/>
              </a:ext>
            </a:extLst>
          </p:cNvPr>
          <p:cNvPicPr>
            <a:picLocks noChangeAspect="1"/>
          </p:cNvPicPr>
          <p:nvPr/>
        </p:nvPicPr>
        <p:blipFill>
          <a:blip r:embed="rId3"/>
          <a:stretch>
            <a:fillRect/>
          </a:stretch>
        </p:blipFill>
        <p:spPr>
          <a:xfrm>
            <a:off x="2954613" y="855968"/>
            <a:ext cx="5810906" cy="4613730"/>
          </a:xfrm>
          <a:prstGeom prst="rect">
            <a:avLst/>
          </a:prstGeom>
        </p:spPr>
      </p:pic>
    </p:spTree>
    <p:extLst>
      <p:ext uri="{BB962C8B-B14F-4D97-AF65-F5344CB8AC3E}">
        <p14:creationId xmlns:p14="http://schemas.microsoft.com/office/powerpoint/2010/main" val="1720992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logo">
            <a:extLst>
              <a:ext uri="{FF2B5EF4-FFF2-40B4-BE49-F238E27FC236}">
                <a16:creationId xmlns:a16="http://schemas.microsoft.com/office/drawing/2014/main" id="{CB7069CB-A915-E9BA-0362-5B26956151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5519" y="3350269"/>
            <a:ext cx="3426481" cy="3473976"/>
          </a:xfrm>
          <a:prstGeom prst="rect">
            <a:avLst/>
          </a:prstGeom>
        </p:spPr>
      </p:pic>
      <p:sp>
        <p:nvSpPr>
          <p:cNvPr id="17" name="Rectángulo 16">
            <a:extLst>
              <a:ext uri="{FF2B5EF4-FFF2-40B4-BE49-F238E27FC236}">
                <a16:creationId xmlns:a16="http://schemas.microsoft.com/office/drawing/2014/main" id="{A8B8087A-F01D-7BF2-7B9B-803D42A31868}"/>
              </a:ext>
            </a:extLst>
          </p:cNvPr>
          <p:cNvSpPr/>
          <p:nvPr/>
        </p:nvSpPr>
        <p:spPr>
          <a:xfrm>
            <a:off x="0" y="0"/>
            <a:ext cx="12192000"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n>
                <a:solidFill>
                  <a:schemeClr val="accent1"/>
                </a:solidFill>
              </a:ln>
            </a:endParaRPr>
          </a:p>
        </p:txBody>
      </p:sp>
      <p:pic>
        <p:nvPicPr>
          <p:cNvPr id="6" name="Imagen 5">
            <a:extLst>
              <a:ext uri="{FF2B5EF4-FFF2-40B4-BE49-F238E27FC236}">
                <a16:creationId xmlns:a16="http://schemas.microsoft.com/office/drawing/2014/main" id="{E88D09ED-200D-E71D-7D1B-4F0CB9EB1154}"/>
              </a:ext>
            </a:extLst>
          </p:cNvPr>
          <p:cNvPicPr>
            <a:picLocks noChangeAspect="1"/>
          </p:cNvPicPr>
          <p:nvPr/>
        </p:nvPicPr>
        <p:blipFill>
          <a:blip r:embed="rId3"/>
          <a:stretch>
            <a:fillRect/>
          </a:stretch>
        </p:blipFill>
        <p:spPr>
          <a:xfrm>
            <a:off x="49006" y="2373538"/>
            <a:ext cx="12093988" cy="2110923"/>
          </a:xfrm>
          <a:prstGeom prst="rect">
            <a:avLst/>
          </a:prstGeom>
        </p:spPr>
      </p:pic>
      <p:sp>
        <p:nvSpPr>
          <p:cNvPr id="2" name="CuadroTexto 1">
            <a:extLst>
              <a:ext uri="{FF2B5EF4-FFF2-40B4-BE49-F238E27FC236}">
                <a16:creationId xmlns:a16="http://schemas.microsoft.com/office/drawing/2014/main" id="{4BE15536-8584-618A-A38B-56A2C9028692}"/>
              </a:ext>
            </a:extLst>
          </p:cNvPr>
          <p:cNvSpPr txBox="1"/>
          <p:nvPr/>
        </p:nvSpPr>
        <p:spPr>
          <a:xfrm>
            <a:off x="318426" y="445008"/>
            <a:ext cx="11268635" cy="7048083"/>
          </a:xfrm>
          <a:prstGeom prst="rect">
            <a:avLst/>
          </a:prstGeom>
          <a:noFill/>
        </p:spPr>
        <p:txBody>
          <a:bodyPr wrap="square" rtlCol="0">
            <a:spAutoFit/>
          </a:bodyPr>
          <a:lstStyle/>
          <a:p>
            <a:pPr algn="ctr"/>
            <a:endParaRPr lang="es-MX" sz="3600" dirty="0">
              <a:solidFill>
                <a:schemeClr val="bg1"/>
              </a:solidFill>
            </a:endParaRPr>
          </a:p>
          <a:p>
            <a:pPr algn="ctr"/>
            <a:r>
              <a:rPr lang="es-MX" sz="3600" dirty="0">
                <a:solidFill>
                  <a:schemeClr val="bg1"/>
                </a:solidFill>
              </a:rPr>
              <a:t>Para </a:t>
            </a:r>
            <a:r>
              <a:rPr lang="es-MX" sz="3600" b="1" dirty="0">
                <a:solidFill>
                  <a:schemeClr val="accent4">
                    <a:lumMod val="60000"/>
                    <a:lumOff val="40000"/>
                  </a:schemeClr>
                </a:solidFill>
              </a:rPr>
              <a:t>Dar de baja</a:t>
            </a:r>
            <a:r>
              <a:rPr lang="es-MX" sz="3600" dirty="0">
                <a:solidFill>
                  <a:schemeClr val="bg1"/>
                </a:solidFill>
              </a:rPr>
              <a:t> en administración del caso de clic en el botón </a:t>
            </a:r>
            <a:r>
              <a:rPr lang="es-MX" sz="3600" b="1" i="1" dirty="0">
                <a:solidFill>
                  <a:schemeClr val="bg1"/>
                </a:solidFill>
              </a:rPr>
              <a:t>Dar de baja</a:t>
            </a: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r>
              <a:rPr lang="es-CO" sz="2000" dirty="0" err="1">
                <a:solidFill>
                  <a:schemeClr val="bg1"/>
                </a:solidFill>
              </a:rPr>
              <a:t>Amatai</a:t>
            </a:r>
            <a:r>
              <a:rPr lang="es-CO" sz="2000" dirty="0">
                <a:solidFill>
                  <a:schemeClr val="bg1"/>
                </a:solidFill>
              </a:rPr>
              <a:t> SAS</a:t>
            </a:r>
          </a:p>
        </p:txBody>
      </p:sp>
      <p:sp>
        <p:nvSpPr>
          <p:cNvPr id="9" name="Rectángulo 8">
            <a:extLst>
              <a:ext uri="{FF2B5EF4-FFF2-40B4-BE49-F238E27FC236}">
                <a16:creationId xmlns:a16="http://schemas.microsoft.com/office/drawing/2014/main" id="{19CE3575-09A8-0984-60D0-CDEE01EEEB27}"/>
              </a:ext>
            </a:extLst>
          </p:cNvPr>
          <p:cNvSpPr/>
          <p:nvPr/>
        </p:nvSpPr>
        <p:spPr>
          <a:xfrm>
            <a:off x="87005" y="3007481"/>
            <a:ext cx="3338947" cy="69616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CO"/>
          </a:p>
        </p:txBody>
      </p:sp>
      <p:pic>
        <p:nvPicPr>
          <p:cNvPr id="11" name="Imagen 10">
            <a:extLst>
              <a:ext uri="{FF2B5EF4-FFF2-40B4-BE49-F238E27FC236}">
                <a16:creationId xmlns:a16="http://schemas.microsoft.com/office/drawing/2014/main" id="{A19EB478-5B09-1BEA-819C-157C47F50696}"/>
              </a:ext>
            </a:extLst>
          </p:cNvPr>
          <p:cNvPicPr>
            <a:picLocks noChangeAspect="1"/>
          </p:cNvPicPr>
          <p:nvPr/>
        </p:nvPicPr>
        <p:blipFill rotWithShape="1">
          <a:blip r:embed="rId4"/>
          <a:srcRect t="34649"/>
          <a:stretch/>
        </p:blipFill>
        <p:spPr>
          <a:xfrm>
            <a:off x="318425" y="3007059"/>
            <a:ext cx="2130959" cy="732442"/>
          </a:xfrm>
          <a:prstGeom prst="rect">
            <a:avLst/>
          </a:prstGeom>
        </p:spPr>
      </p:pic>
      <p:pic>
        <p:nvPicPr>
          <p:cNvPr id="8" name="Gráfico 7" descr="Lupa">
            <a:extLst>
              <a:ext uri="{FF2B5EF4-FFF2-40B4-BE49-F238E27FC236}">
                <a16:creationId xmlns:a16="http://schemas.microsoft.com/office/drawing/2014/main" id="{70287BDA-E56B-9DF6-26A8-A0F53C4766D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121602">
            <a:off x="-379857" y="1674076"/>
            <a:ext cx="3882034" cy="3952767"/>
          </a:xfrm>
          <a:prstGeom prst="rect">
            <a:avLst/>
          </a:prstGeom>
        </p:spPr>
      </p:pic>
    </p:spTree>
    <p:extLst>
      <p:ext uri="{BB962C8B-B14F-4D97-AF65-F5344CB8AC3E}">
        <p14:creationId xmlns:p14="http://schemas.microsoft.com/office/powerpoint/2010/main" val="1830992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logo">
            <a:extLst>
              <a:ext uri="{FF2B5EF4-FFF2-40B4-BE49-F238E27FC236}">
                <a16:creationId xmlns:a16="http://schemas.microsoft.com/office/drawing/2014/main" id="{CB7069CB-A915-E9BA-0362-5B26956151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5519" y="3350269"/>
            <a:ext cx="3426481" cy="3473976"/>
          </a:xfrm>
          <a:prstGeom prst="rect">
            <a:avLst/>
          </a:prstGeom>
        </p:spPr>
      </p:pic>
      <p:sp>
        <p:nvSpPr>
          <p:cNvPr id="17" name="Rectángulo 16">
            <a:extLst>
              <a:ext uri="{FF2B5EF4-FFF2-40B4-BE49-F238E27FC236}">
                <a16:creationId xmlns:a16="http://schemas.microsoft.com/office/drawing/2014/main" id="{A8B8087A-F01D-7BF2-7B9B-803D42A31868}"/>
              </a:ext>
            </a:extLst>
          </p:cNvPr>
          <p:cNvSpPr/>
          <p:nvPr/>
        </p:nvSpPr>
        <p:spPr>
          <a:xfrm>
            <a:off x="0" y="0"/>
            <a:ext cx="12192000"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n>
                <a:solidFill>
                  <a:schemeClr val="accent1"/>
                </a:solidFill>
              </a:ln>
            </a:endParaRPr>
          </a:p>
        </p:txBody>
      </p:sp>
      <p:pic>
        <p:nvPicPr>
          <p:cNvPr id="5" name="Imagen 4">
            <a:extLst>
              <a:ext uri="{FF2B5EF4-FFF2-40B4-BE49-F238E27FC236}">
                <a16:creationId xmlns:a16="http://schemas.microsoft.com/office/drawing/2014/main" id="{BA4C5974-D310-4C4E-4C92-272A535AA142}"/>
              </a:ext>
            </a:extLst>
          </p:cNvPr>
          <p:cNvPicPr>
            <a:picLocks noChangeAspect="1"/>
          </p:cNvPicPr>
          <p:nvPr/>
        </p:nvPicPr>
        <p:blipFill>
          <a:blip r:embed="rId3"/>
          <a:stretch>
            <a:fillRect/>
          </a:stretch>
        </p:blipFill>
        <p:spPr>
          <a:xfrm>
            <a:off x="3605555" y="231425"/>
            <a:ext cx="5273497" cy="5151566"/>
          </a:xfrm>
          <a:prstGeom prst="rect">
            <a:avLst/>
          </a:prstGeom>
        </p:spPr>
      </p:pic>
      <p:sp>
        <p:nvSpPr>
          <p:cNvPr id="10" name="CuadroTexto 9">
            <a:extLst>
              <a:ext uri="{FF2B5EF4-FFF2-40B4-BE49-F238E27FC236}">
                <a16:creationId xmlns:a16="http://schemas.microsoft.com/office/drawing/2014/main" id="{C69317F1-3BC8-CC98-94BA-756E40E92416}"/>
              </a:ext>
            </a:extLst>
          </p:cNvPr>
          <p:cNvSpPr txBox="1"/>
          <p:nvPr/>
        </p:nvSpPr>
        <p:spPr>
          <a:xfrm>
            <a:off x="1280159" y="5503453"/>
            <a:ext cx="9924288" cy="1200329"/>
          </a:xfrm>
          <a:prstGeom prst="rect">
            <a:avLst/>
          </a:prstGeom>
          <a:noFill/>
        </p:spPr>
        <p:txBody>
          <a:bodyPr wrap="square">
            <a:spAutoFit/>
          </a:bodyPr>
          <a:lstStyle/>
          <a:p>
            <a:pPr algn="ctr"/>
            <a:r>
              <a:rPr lang="es-MX" sz="3600" dirty="0">
                <a:solidFill>
                  <a:schemeClr val="bg1"/>
                </a:solidFill>
              </a:rPr>
              <a:t>Ingrese una descripción y de clic en botón </a:t>
            </a:r>
          </a:p>
          <a:p>
            <a:pPr algn="ctr"/>
            <a:r>
              <a:rPr lang="es-MX" sz="3600" dirty="0">
                <a:solidFill>
                  <a:schemeClr val="accent4">
                    <a:lumMod val="60000"/>
                    <a:lumOff val="40000"/>
                  </a:schemeClr>
                </a:solidFill>
              </a:rPr>
              <a:t>Si, dar de baja</a:t>
            </a:r>
            <a:endParaRPr lang="es-MX" sz="3600" b="1" i="1" dirty="0">
              <a:solidFill>
                <a:schemeClr val="accent4">
                  <a:lumMod val="60000"/>
                  <a:lumOff val="40000"/>
                </a:schemeClr>
              </a:solidFill>
            </a:endParaRPr>
          </a:p>
        </p:txBody>
      </p:sp>
    </p:spTree>
    <p:extLst>
      <p:ext uri="{BB962C8B-B14F-4D97-AF65-F5344CB8AC3E}">
        <p14:creationId xmlns:p14="http://schemas.microsoft.com/office/powerpoint/2010/main" val="1612107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logo">
            <a:extLst>
              <a:ext uri="{FF2B5EF4-FFF2-40B4-BE49-F238E27FC236}">
                <a16:creationId xmlns:a16="http://schemas.microsoft.com/office/drawing/2014/main" id="{CB7069CB-A915-E9BA-0362-5B26956151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5519" y="3350269"/>
            <a:ext cx="3426481" cy="3473976"/>
          </a:xfrm>
          <a:prstGeom prst="rect">
            <a:avLst/>
          </a:prstGeom>
        </p:spPr>
      </p:pic>
      <p:sp>
        <p:nvSpPr>
          <p:cNvPr id="17" name="Rectángulo 16">
            <a:extLst>
              <a:ext uri="{FF2B5EF4-FFF2-40B4-BE49-F238E27FC236}">
                <a16:creationId xmlns:a16="http://schemas.microsoft.com/office/drawing/2014/main" id="{A8B8087A-F01D-7BF2-7B9B-803D42A31868}"/>
              </a:ext>
            </a:extLst>
          </p:cNvPr>
          <p:cNvSpPr/>
          <p:nvPr/>
        </p:nvSpPr>
        <p:spPr>
          <a:xfrm>
            <a:off x="0" y="0"/>
            <a:ext cx="12192000"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n>
                <a:solidFill>
                  <a:schemeClr val="accent1"/>
                </a:solidFill>
              </a:ln>
            </a:endParaRPr>
          </a:p>
        </p:txBody>
      </p:sp>
      <p:sp>
        <p:nvSpPr>
          <p:cNvPr id="2" name="CuadroTexto 1">
            <a:extLst>
              <a:ext uri="{FF2B5EF4-FFF2-40B4-BE49-F238E27FC236}">
                <a16:creationId xmlns:a16="http://schemas.microsoft.com/office/drawing/2014/main" id="{4BE15536-8584-618A-A38B-56A2C9028692}"/>
              </a:ext>
            </a:extLst>
          </p:cNvPr>
          <p:cNvSpPr txBox="1"/>
          <p:nvPr/>
        </p:nvSpPr>
        <p:spPr>
          <a:xfrm>
            <a:off x="318426" y="445008"/>
            <a:ext cx="11268635" cy="7048083"/>
          </a:xfrm>
          <a:prstGeom prst="rect">
            <a:avLst/>
          </a:prstGeom>
          <a:noFill/>
        </p:spPr>
        <p:txBody>
          <a:bodyPr wrap="square" rtlCol="0">
            <a:spAutoFit/>
          </a:bodyPr>
          <a:lstStyle/>
          <a:p>
            <a:pPr algn="ctr"/>
            <a:endParaRPr lang="es-MX" sz="3600" dirty="0">
              <a:solidFill>
                <a:schemeClr val="bg1"/>
              </a:solidFill>
            </a:endParaRPr>
          </a:p>
          <a:p>
            <a:pPr algn="ctr"/>
            <a:r>
              <a:rPr lang="es-MX" sz="3600" dirty="0">
                <a:solidFill>
                  <a:schemeClr val="bg1"/>
                </a:solidFill>
              </a:rPr>
              <a:t>Para poner en </a:t>
            </a:r>
            <a:r>
              <a:rPr lang="es-MX" sz="3600" b="1" dirty="0">
                <a:solidFill>
                  <a:schemeClr val="accent4">
                    <a:lumMod val="60000"/>
                    <a:lumOff val="40000"/>
                  </a:schemeClr>
                </a:solidFill>
              </a:rPr>
              <a:t>Revisión</a:t>
            </a:r>
            <a:r>
              <a:rPr lang="es-MX" sz="3600" dirty="0">
                <a:solidFill>
                  <a:schemeClr val="bg1"/>
                </a:solidFill>
              </a:rPr>
              <a:t> en cierre de caso de clic en el botón </a:t>
            </a:r>
            <a:r>
              <a:rPr lang="es-MX" sz="3600" b="1" i="1" dirty="0">
                <a:solidFill>
                  <a:schemeClr val="bg1"/>
                </a:solidFill>
              </a:rPr>
              <a:t>Pasar a </a:t>
            </a:r>
            <a:r>
              <a:rPr lang="es-MX" sz="3600" b="1" i="1" dirty="0" err="1">
                <a:solidFill>
                  <a:schemeClr val="bg1"/>
                </a:solidFill>
              </a:rPr>
              <a:t>revisón</a:t>
            </a:r>
            <a:endParaRPr lang="es-MX" sz="3600" b="1" i="1" dirty="0">
              <a:solidFill>
                <a:schemeClr val="bg1"/>
              </a:solidFill>
            </a:endParaRP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pPr algn="ctr"/>
            <a:endParaRPr lang="es-MX" sz="3600" dirty="0">
              <a:solidFill>
                <a:schemeClr val="bg1"/>
              </a:solidFill>
            </a:endParaRPr>
          </a:p>
          <a:p>
            <a:r>
              <a:rPr lang="es-CO" sz="2000" dirty="0" err="1">
                <a:solidFill>
                  <a:schemeClr val="bg1"/>
                </a:solidFill>
              </a:rPr>
              <a:t>Amatai</a:t>
            </a:r>
            <a:r>
              <a:rPr lang="es-CO" sz="2000" dirty="0">
                <a:solidFill>
                  <a:schemeClr val="bg1"/>
                </a:solidFill>
              </a:rPr>
              <a:t> SAS</a:t>
            </a:r>
          </a:p>
        </p:txBody>
      </p:sp>
      <p:pic>
        <p:nvPicPr>
          <p:cNvPr id="11" name="Imagen 10">
            <a:extLst>
              <a:ext uri="{FF2B5EF4-FFF2-40B4-BE49-F238E27FC236}">
                <a16:creationId xmlns:a16="http://schemas.microsoft.com/office/drawing/2014/main" id="{5B1CAB16-AAFF-0020-E3FE-85BE9C43733E}"/>
              </a:ext>
            </a:extLst>
          </p:cNvPr>
          <p:cNvPicPr>
            <a:picLocks noChangeAspect="1"/>
          </p:cNvPicPr>
          <p:nvPr/>
        </p:nvPicPr>
        <p:blipFill>
          <a:blip r:embed="rId3"/>
          <a:stretch>
            <a:fillRect/>
          </a:stretch>
        </p:blipFill>
        <p:spPr>
          <a:xfrm>
            <a:off x="239522" y="2903174"/>
            <a:ext cx="11712955" cy="1051651"/>
          </a:xfrm>
          <a:prstGeom prst="rect">
            <a:avLst/>
          </a:prstGeom>
        </p:spPr>
      </p:pic>
      <p:sp>
        <p:nvSpPr>
          <p:cNvPr id="9" name="Rectángulo 8">
            <a:extLst>
              <a:ext uri="{FF2B5EF4-FFF2-40B4-BE49-F238E27FC236}">
                <a16:creationId xmlns:a16="http://schemas.microsoft.com/office/drawing/2014/main" id="{19CE3575-09A8-0984-60D0-CDEE01EEEB27}"/>
              </a:ext>
            </a:extLst>
          </p:cNvPr>
          <p:cNvSpPr/>
          <p:nvPr/>
        </p:nvSpPr>
        <p:spPr>
          <a:xfrm>
            <a:off x="239522" y="3452565"/>
            <a:ext cx="11712954" cy="66116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CO"/>
          </a:p>
        </p:txBody>
      </p:sp>
      <p:pic>
        <p:nvPicPr>
          <p:cNvPr id="6" name="Imagen 5">
            <a:extLst>
              <a:ext uri="{FF2B5EF4-FFF2-40B4-BE49-F238E27FC236}">
                <a16:creationId xmlns:a16="http://schemas.microsoft.com/office/drawing/2014/main" id="{64A37F9C-3281-B95E-E2B7-E03DE749C2AA}"/>
              </a:ext>
            </a:extLst>
          </p:cNvPr>
          <p:cNvPicPr>
            <a:picLocks noChangeAspect="1"/>
          </p:cNvPicPr>
          <p:nvPr/>
        </p:nvPicPr>
        <p:blipFill>
          <a:blip r:embed="rId4"/>
          <a:stretch>
            <a:fillRect/>
          </a:stretch>
        </p:blipFill>
        <p:spPr>
          <a:xfrm>
            <a:off x="8717173" y="3433863"/>
            <a:ext cx="2140377" cy="661164"/>
          </a:xfrm>
          <a:prstGeom prst="rect">
            <a:avLst/>
          </a:prstGeom>
        </p:spPr>
      </p:pic>
      <p:pic>
        <p:nvPicPr>
          <p:cNvPr id="8" name="Gráfico 7" descr="Lupa">
            <a:extLst>
              <a:ext uri="{FF2B5EF4-FFF2-40B4-BE49-F238E27FC236}">
                <a16:creationId xmlns:a16="http://schemas.microsoft.com/office/drawing/2014/main" id="{70287BDA-E56B-9DF6-26A8-A0F53C4766D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5181362">
            <a:off x="7319456" y="2349657"/>
            <a:ext cx="4092798" cy="4018677"/>
          </a:xfrm>
          <a:prstGeom prst="rect">
            <a:avLst/>
          </a:prstGeom>
        </p:spPr>
      </p:pic>
    </p:spTree>
    <p:extLst>
      <p:ext uri="{BB962C8B-B14F-4D97-AF65-F5344CB8AC3E}">
        <p14:creationId xmlns:p14="http://schemas.microsoft.com/office/powerpoint/2010/main" val="5733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logo">
            <a:extLst>
              <a:ext uri="{FF2B5EF4-FFF2-40B4-BE49-F238E27FC236}">
                <a16:creationId xmlns:a16="http://schemas.microsoft.com/office/drawing/2014/main" id="{CB7069CB-A915-E9BA-0362-5B26956151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5519" y="3350269"/>
            <a:ext cx="3426481" cy="3473976"/>
          </a:xfrm>
          <a:prstGeom prst="rect">
            <a:avLst/>
          </a:prstGeom>
        </p:spPr>
      </p:pic>
      <p:sp>
        <p:nvSpPr>
          <p:cNvPr id="17" name="Rectángulo 16">
            <a:extLst>
              <a:ext uri="{FF2B5EF4-FFF2-40B4-BE49-F238E27FC236}">
                <a16:creationId xmlns:a16="http://schemas.microsoft.com/office/drawing/2014/main" id="{A8B8087A-F01D-7BF2-7B9B-803D42A31868}"/>
              </a:ext>
            </a:extLst>
          </p:cNvPr>
          <p:cNvSpPr/>
          <p:nvPr/>
        </p:nvSpPr>
        <p:spPr>
          <a:xfrm>
            <a:off x="0" y="0"/>
            <a:ext cx="12192000"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n>
                <a:solidFill>
                  <a:schemeClr val="accent1"/>
                </a:solidFill>
              </a:ln>
            </a:endParaRPr>
          </a:p>
        </p:txBody>
      </p:sp>
      <p:sp>
        <p:nvSpPr>
          <p:cNvPr id="10" name="CuadroTexto 9">
            <a:extLst>
              <a:ext uri="{FF2B5EF4-FFF2-40B4-BE49-F238E27FC236}">
                <a16:creationId xmlns:a16="http://schemas.microsoft.com/office/drawing/2014/main" id="{C69317F1-3BC8-CC98-94BA-756E40E92416}"/>
              </a:ext>
            </a:extLst>
          </p:cNvPr>
          <p:cNvSpPr txBox="1"/>
          <p:nvPr/>
        </p:nvSpPr>
        <p:spPr>
          <a:xfrm>
            <a:off x="1280159" y="5503453"/>
            <a:ext cx="9924288" cy="1200329"/>
          </a:xfrm>
          <a:prstGeom prst="rect">
            <a:avLst/>
          </a:prstGeom>
          <a:noFill/>
        </p:spPr>
        <p:txBody>
          <a:bodyPr wrap="square">
            <a:spAutoFit/>
          </a:bodyPr>
          <a:lstStyle/>
          <a:p>
            <a:pPr algn="ctr"/>
            <a:r>
              <a:rPr lang="es-MX" sz="3600" dirty="0">
                <a:solidFill>
                  <a:schemeClr val="bg1"/>
                </a:solidFill>
              </a:rPr>
              <a:t>Ingrese una descripción y de clic en botón </a:t>
            </a:r>
          </a:p>
          <a:p>
            <a:pPr algn="ctr"/>
            <a:r>
              <a:rPr lang="es-MX" sz="3600" b="1" i="1" dirty="0">
                <a:solidFill>
                  <a:schemeClr val="accent4">
                    <a:lumMod val="60000"/>
                    <a:lumOff val="40000"/>
                  </a:schemeClr>
                </a:solidFill>
              </a:rPr>
              <a:t>Pasar a revisión</a:t>
            </a:r>
          </a:p>
        </p:txBody>
      </p:sp>
      <p:pic>
        <p:nvPicPr>
          <p:cNvPr id="4" name="Imagen 3">
            <a:extLst>
              <a:ext uri="{FF2B5EF4-FFF2-40B4-BE49-F238E27FC236}">
                <a16:creationId xmlns:a16="http://schemas.microsoft.com/office/drawing/2014/main" id="{9D70D671-5EC9-54B1-0582-072BDD2C4351}"/>
              </a:ext>
            </a:extLst>
          </p:cNvPr>
          <p:cNvPicPr>
            <a:picLocks noChangeAspect="1"/>
          </p:cNvPicPr>
          <p:nvPr/>
        </p:nvPicPr>
        <p:blipFill>
          <a:blip r:embed="rId3"/>
          <a:stretch>
            <a:fillRect/>
          </a:stretch>
        </p:blipFill>
        <p:spPr>
          <a:xfrm>
            <a:off x="3592613" y="1748644"/>
            <a:ext cx="5006774" cy="3360711"/>
          </a:xfrm>
          <a:prstGeom prst="rect">
            <a:avLst/>
          </a:prstGeom>
        </p:spPr>
      </p:pic>
    </p:spTree>
    <p:extLst>
      <p:ext uri="{BB962C8B-B14F-4D97-AF65-F5344CB8AC3E}">
        <p14:creationId xmlns:p14="http://schemas.microsoft.com/office/powerpoint/2010/main" val="2790284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logo">
            <a:extLst>
              <a:ext uri="{FF2B5EF4-FFF2-40B4-BE49-F238E27FC236}">
                <a16:creationId xmlns:a16="http://schemas.microsoft.com/office/drawing/2014/main" id="{CB7069CB-A915-E9BA-0362-5B26956151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5519" y="3350269"/>
            <a:ext cx="3426481" cy="3473976"/>
          </a:xfrm>
          <a:prstGeom prst="rect">
            <a:avLst/>
          </a:prstGeom>
        </p:spPr>
      </p:pic>
      <p:sp>
        <p:nvSpPr>
          <p:cNvPr id="17" name="Rectángulo 16">
            <a:extLst>
              <a:ext uri="{FF2B5EF4-FFF2-40B4-BE49-F238E27FC236}">
                <a16:creationId xmlns:a16="http://schemas.microsoft.com/office/drawing/2014/main" id="{A8B8087A-F01D-7BF2-7B9B-803D42A31868}"/>
              </a:ext>
            </a:extLst>
          </p:cNvPr>
          <p:cNvSpPr/>
          <p:nvPr/>
        </p:nvSpPr>
        <p:spPr>
          <a:xfrm>
            <a:off x="0" y="0"/>
            <a:ext cx="12192000"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n>
                <a:solidFill>
                  <a:schemeClr val="accent1"/>
                </a:solidFill>
              </a:ln>
            </a:endParaRPr>
          </a:p>
        </p:txBody>
      </p:sp>
      <p:sp>
        <p:nvSpPr>
          <p:cNvPr id="2" name="CuadroTexto 1">
            <a:extLst>
              <a:ext uri="{FF2B5EF4-FFF2-40B4-BE49-F238E27FC236}">
                <a16:creationId xmlns:a16="http://schemas.microsoft.com/office/drawing/2014/main" id="{4BE15536-8584-618A-A38B-56A2C9028692}"/>
              </a:ext>
            </a:extLst>
          </p:cNvPr>
          <p:cNvSpPr txBox="1"/>
          <p:nvPr/>
        </p:nvSpPr>
        <p:spPr>
          <a:xfrm>
            <a:off x="318426" y="445008"/>
            <a:ext cx="11268635" cy="6494085"/>
          </a:xfrm>
          <a:prstGeom prst="rect">
            <a:avLst/>
          </a:prstGeom>
          <a:noFill/>
        </p:spPr>
        <p:txBody>
          <a:bodyPr wrap="square" rtlCol="0">
            <a:spAutoFit/>
          </a:bodyPr>
          <a:lstStyle/>
          <a:p>
            <a:pPr algn="ctr"/>
            <a:r>
              <a:rPr lang="es-MX" sz="3600" dirty="0">
                <a:solidFill>
                  <a:schemeClr val="bg1"/>
                </a:solidFill>
              </a:rPr>
              <a:t>Ahora IURIS le permite pausar los expedientes!</a:t>
            </a:r>
          </a:p>
          <a:p>
            <a:endParaRPr lang="es-MX" sz="3600" dirty="0">
              <a:solidFill>
                <a:schemeClr val="bg1"/>
              </a:solidFill>
            </a:endParaRPr>
          </a:p>
          <a:p>
            <a:pPr algn="just"/>
            <a:r>
              <a:rPr lang="es-MX" sz="3600" dirty="0">
                <a:solidFill>
                  <a:schemeClr val="bg1"/>
                </a:solidFill>
              </a:rPr>
              <a:t>Esta funcionalidad pone en pausa el tiempo de evaluación de actuaciones en aquellos expedientes abiertos que no tendrán actuaciones en un lapso determinado de tiempo.</a:t>
            </a:r>
          </a:p>
          <a:p>
            <a:endParaRPr lang="es-MX" sz="3600" dirty="0"/>
          </a:p>
          <a:p>
            <a:endParaRPr lang="es-MX" sz="3600" dirty="0"/>
          </a:p>
          <a:p>
            <a:endParaRPr lang="es-MX" sz="3600" dirty="0"/>
          </a:p>
          <a:p>
            <a:endParaRPr lang="es-MX" sz="3600" dirty="0"/>
          </a:p>
          <a:p>
            <a:endParaRPr lang="es-MX" sz="3600" dirty="0"/>
          </a:p>
          <a:p>
            <a:endParaRPr lang="es-MX" sz="3600" dirty="0"/>
          </a:p>
          <a:p>
            <a:r>
              <a:rPr lang="es-CO" sz="2000" dirty="0" err="1">
                <a:solidFill>
                  <a:schemeClr val="bg1"/>
                </a:solidFill>
              </a:rPr>
              <a:t>Amatai</a:t>
            </a:r>
            <a:r>
              <a:rPr lang="es-CO" sz="2000" dirty="0">
                <a:solidFill>
                  <a:schemeClr val="bg1"/>
                </a:solidFill>
              </a:rPr>
              <a:t> SAS</a:t>
            </a:r>
          </a:p>
        </p:txBody>
      </p:sp>
    </p:spTree>
    <p:extLst>
      <p:ext uri="{BB962C8B-B14F-4D97-AF65-F5344CB8AC3E}">
        <p14:creationId xmlns:p14="http://schemas.microsoft.com/office/powerpoint/2010/main" val="3888979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logo">
            <a:extLst>
              <a:ext uri="{FF2B5EF4-FFF2-40B4-BE49-F238E27FC236}">
                <a16:creationId xmlns:a16="http://schemas.microsoft.com/office/drawing/2014/main" id="{CB7069CB-A915-E9BA-0362-5B26956151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5519" y="3350269"/>
            <a:ext cx="3426481" cy="3473976"/>
          </a:xfrm>
          <a:prstGeom prst="rect">
            <a:avLst/>
          </a:prstGeom>
        </p:spPr>
      </p:pic>
      <p:sp>
        <p:nvSpPr>
          <p:cNvPr id="17" name="Rectángulo 16">
            <a:extLst>
              <a:ext uri="{FF2B5EF4-FFF2-40B4-BE49-F238E27FC236}">
                <a16:creationId xmlns:a16="http://schemas.microsoft.com/office/drawing/2014/main" id="{A8B8087A-F01D-7BF2-7B9B-803D42A31868}"/>
              </a:ext>
            </a:extLst>
          </p:cNvPr>
          <p:cNvSpPr/>
          <p:nvPr/>
        </p:nvSpPr>
        <p:spPr>
          <a:xfrm>
            <a:off x="0" y="0"/>
            <a:ext cx="12192000"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n>
                <a:solidFill>
                  <a:schemeClr val="accent1"/>
                </a:solidFill>
              </a:ln>
            </a:endParaRPr>
          </a:p>
        </p:txBody>
      </p:sp>
      <p:sp>
        <p:nvSpPr>
          <p:cNvPr id="2" name="CuadroTexto 1">
            <a:extLst>
              <a:ext uri="{FF2B5EF4-FFF2-40B4-BE49-F238E27FC236}">
                <a16:creationId xmlns:a16="http://schemas.microsoft.com/office/drawing/2014/main" id="{4BE15536-8584-618A-A38B-56A2C9028692}"/>
              </a:ext>
            </a:extLst>
          </p:cNvPr>
          <p:cNvSpPr txBox="1"/>
          <p:nvPr/>
        </p:nvSpPr>
        <p:spPr>
          <a:xfrm>
            <a:off x="318426" y="445008"/>
            <a:ext cx="11268635" cy="6494085"/>
          </a:xfrm>
          <a:prstGeom prst="rect">
            <a:avLst/>
          </a:prstGeom>
          <a:noFill/>
        </p:spPr>
        <p:txBody>
          <a:bodyPr wrap="square" rtlCol="0">
            <a:spAutoFit/>
          </a:bodyPr>
          <a:lstStyle/>
          <a:p>
            <a:pPr algn="ctr"/>
            <a:endParaRPr lang="es-MX" sz="3600" dirty="0">
              <a:solidFill>
                <a:schemeClr val="bg1"/>
              </a:solidFill>
            </a:endParaRPr>
          </a:p>
          <a:p>
            <a:pPr algn="ctr"/>
            <a:r>
              <a:rPr lang="es-MX" sz="3600" dirty="0">
                <a:solidFill>
                  <a:schemeClr val="bg1"/>
                </a:solidFill>
              </a:rPr>
              <a:t>Seleccione la fecha hasta cuando el expediente estará en pausa y de clic en </a:t>
            </a:r>
            <a:r>
              <a:rPr lang="es-MX" sz="3600" b="1" i="1" dirty="0">
                <a:solidFill>
                  <a:schemeClr val="bg1"/>
                </a:solidFill>
              </a:rPr>
              <a:t>Crear</a:t>
            </a:r>
          </a:p>
          <a:p>
            <a:endParaRPr lang="es-MX" sz="3600" dirty="0">
              <a:solidFill>
                <a:schemeClr val="bg1"/>
              </a:solidFill>
            </a:endParaRPr>
          </a:p>
          <a:p>
            <a:endParaRPr lang="es-MX" sz="3600" dirty="0">
              <a:solidFill>
                <a:schemeClr val="bg1"/>
              </a:solidFill>
            </a:endParaRPr>
          </a:p>
          <a:p>
            <a:endParaRPr lang="es-MX" sz="3600" dirty="0">
              <a:solidFill>
                <a:schemeClr val="bg1"/>
              </a:solidFill>
            </a:endParaRPr>
          </a:p>
          <a:p>
            <a:endParaRPr lang="es-MX" sz="3600" dirty="0">
              <a:solidFill>
                <a:schemeClr val="bg1"/>
              </a:solidFill>
            </a:endParaRPr>
          </a:p>
          <a:p>
            <a:endParaRPr lang="es-MX" sz="3600" dirty="0">
              <a:solidFill>
                <a:schemeClr val="bg1"/>
              </a:solidFill>
            </a:endParaRPr>
          </a:p>
          <a:p>
            <a:endParaRPr lang="es-MX" sz="3600" dirty="0">
              <a:solidFill>
                <a:schemeClr val="bg1"/>
              </a:solidFill>
            </a:endParaRPr>
          </a:p>
          <a:p>
            <a:endParaRPr lang="es-MX" sz="3600" dirty="0">
              <a:solidFill>
                <a:schemeClr val="bg1"/>
              </a:solidFill>
            </a:endParaRPr>
          </a:p>
          <a:p>
            <a:endParaRPr lang="es-MX" sz="3600" dirty="0">
              <a:solidFill>
                <a:schemeClr val="bg1"/>
              </a:solidFill>
            </a:endParaRPr>
          </a:p>
          <a:p>
            <a:r>
              <a:rPr lang="es-CO" sz="2000" dirty="0" err="1">
                <a:solidFill>
                  <a:schemeClr val="bg1"/>
                </a:solidFill>
              </a:rPr>
              <a:t>Amatai</a:t>
            </a:r>
            <a:r>
              <a:rPr lang="es-CO" sz="2000" dirty="0">
                <a:solidFill>
                  <a:schemeClr val="bg1"/>
                </a:solidFill>
              </a:rPr>
              <a:t> SAS</a:t>
            </a:r>
          </a:p>
        </p:txBody>
      </p:sp>
      <p:pic>
        <p:nvPicPr>
          <p:cNvPr id="6" name="Imagen 5">
            <a:extLst>
              <a:ext uri="{FF2B5EF4-FFF2-40B4-BE49-F238E27FC236}">
                <a16:creationId xmlns:a16="http://schemas.microsoft.com/office/drawing/2014/main" id="{4A506FE3-EF75-7A87-F456-86B7BDDDE4CF}"/>
              </a:ext>
            </a:extLst>
          </p:cNvPr>
          <p:cNvPicPr>
            <a:picLocks noChangeAspect="1"/>
          </p:cNvPicPr>
          <p:nvPr/>
        </p:nvPicPr>
        <p:blipFill rotWithShape="1">
          <a:blip r:embed="rId3"/>
          <a:srcRect l="16086"/>
          <a:stretch/>
        </p:blipFill>
        <p:spPr>
          <a:xfrm>
            <a:off x="2606565" y="2842922"/>
            <a:ext cx="5869339" cy="3416320"/>
          </a:xfrm>
          <a:prstGeom prst="rect">
            <a:avLst/>
          </a:prstGeom>
        </p:spPr>
      </p:pic>
    </p:spTree>
    <p:extLst>
      <p:ext uri="{BB962C8B-B14F-4D97-AF65-F5344CB8AC3E}">
        <p14:creationId xmlns:p14="http://schemas.microsoft.com/office/powerpoint/2010/main" val="21794211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logo">
            <a:extLst>
              <a:ext uri="{FF2B5EF4-FFF2-40B4-BE49-F238E27FC236}">
                <a16:creationId xmlns:a16="http://schemas.microsoft.com/office/drawing/2014/main" id="{CB7069CB-A915-E9BA-0362-5B26956151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5519" y="3350269"/>
            <a:ext cx="3426481" cy="3473976"/>
          </a:xfrm>
          <a:prstGeom prst="rect">
            <a:avLst/>
          </a:prstGeom>
        </p:spPr>
      </p:pic>
      <p:sp>
        <p:nvSpPr>
          <p:cNvPr id="17" name="Rectángulo 16">
            <a:extLst>
              <a:ext uri="{FF2B5EF4-FFF2-40B4-BE49-F238E27FC236}">
                <a16:creationId xmlns:a16="http://schemas.microsoft.com/office/drawing/2014/main" id="{A8B8087A-F01D-7BF2-7B9B-803D42A31868}"/>
              </a:ext>
            </a:extLst>
          </p:cNvPr>
          <p:cNvSpPr/>
          <p:nvPr/>
        </p:nvSpPr>
        <p:spPr>
          <a:xfrm>
            <a:off x="0" y="0"/>
            <a:ext cx="12192000"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ln>
                <a:solidFill>
                  <a:schemeClr val="accent1"/>
                </a:solidFill>
              </a:ln>
            </a:endParaRPr>
          </a:p>
        </p:txBody>
      </p:sp>
      <p:sp>
        <p:nvSpPr>
          <p:cNvPr id="2" name="CuadroTexto 1">
            <a:extLst>
              <a:ext uri="{FF2B5EF4-FFF2-40B4-BE49-F238E27FC236}">
                <a16:creationId xmlns:a16="http://schemas.microsoft.com/office/drawing/2014/main" id="{4BE15536-8584-618A-A38B-56A2C9028692}"/>
              </a:ext>
            </a:extLst>
          </p:cNvPr>
          <p:cNvSpPr txBox="1"/>
          <p:nvPr/>
        </p:nvSpPr>
        <p:spPr>
          <a:xfrm>
            <a:off x="318426" y="445008"/>
            <a:ext cx="11268635" cy="6494085"/>
          </a:xfrm>
          <a:prstGeom prst="rect">
            <a:avLst/>
          </a:prstGeom>
          <a:noFill/>
        </p:spPr>
        <p:txBody>
          <a:bodyPr wrap="square" rtlCol="0">
            <a:spAutoFit/>
          </a:bodyPr>
          <a:lstStyle/>
          <a:p>
            <a:pPr algn="just"/>
            <a:endParaRPr lang="es-MX" sz="3600" dirty="0">
              <a:solidFill>
                <a:schemeClr val="bg1"/>
              </a:solidFill>
            </a:endParaRPr>
          </a:p>
          <a:p>
            <a:pPr algn="just"/>
            <a:endParaRPr lang="es-MX" sz="3600" dirty="0">
              <a:solidFill>
                <a:schemeClr val="bg1"/>
              </a:solidFill>
            </a:endParaRPr>
          </a:p>
          <a:p>
            <a:pPr algn="just"/>
            <a:r>
              <a:rPr lang="es-MX" sz="3600" dirty="0">
                <a:solidFill>
                  <a:schemeClr val="bg1"/>
                </a:solidFill>
              </a:rPr>
              <a:t>El expediente cambiará su estado a Pausado hasta el día de la fecha seleccionada en el paso anterior. Tenga en cuenta que esta funcionalidad solo pausará el tiempo de validación de los treinta días, que se aplica en las actuaciones,</a:t>
            </a:r>
          </a:p>
          <a:p>
            <a:pPr algn="just"/>
            <a:r>
              <a:rPr lang="es-MX" sz="3600" dirty="0">
                <a:solidFill>
                  <a:schemeClr val="bg1"/>
                </a:solidFill>
              </a:rPr>
              <a:t>a partir de la fecha de activación.</a:t>
            </a:r>
          </a:p>
          <a:p>
            <a:pPr algn="just"/>
            <a:endParaRPr lang="es-MX" sz="3600" dirty="0">
              <a:solidFill>
                <a:schemeClr val="bg1"/>
              </a:solidFill>
            </a:endParaRPr>
          </a:p>
          <a:p>
            <a:pPr algn="just"/>
            <a:endParaRPr lang="es-MX" sz="3600" dirty="0">
              <a:solidFill>
                <a:schemeClr val="bg1"/>
              </a:solidFill>
            </a:endParaRPr>
          </a:p>
          <a:p>
            <a:pPr algn="just"/>
            <a:endParaRPr lang="es-MX" sz="3600" dirty="0">
              <a:solidFill>
                <a:schemeClr val="bg1"/>
              </a:solidFill>
            </a:endParaRPr>
          </a:p>
          <a:p>
            <a:pPr algn="just"/>
            <a:endParaRPr lang="es-MX" sz="3600" dirty="0">
              <a:solidFill>
                <a:schemeClr val="bg1"/>
              </a:solidFill>
            </a:endParaRPr>
          </a:p>
          <a:p>
            <a:pPr algn="just"/>
            <a:r>
              <a:rPr lang="es-MX" sz="2000" dirty="0" err="1">
                <a:solidFill>
                  <a:schemeClr val="bg1"/>
                </a:solidFill>
              </a:rPr>
              <a:t>Amatai</a:t>
            </a:r>
            <a:r>
              <a:rPr lang="es-MX" sz="2000" dirty="0">
                <a:solidFill>
                  <a:schemeClr val="bg1"/>
                </a:solidFill>
              </a:rPr>
              <a:t> SAS</a:t>
            </a:r>
            <a:endParaRPr lang="es-CO" sz="3600" dirty="0">
              <a:solidFill>
                <a:schemeClr val="bg1"/>
              </a:solidFill>
            </a:endParaRPr>
          </a:p>
        </p:txBody>
      </p:sp>
    </p:spTree>
    <p:extLst>
      <p:ext uri="{BB962C8B-B14F-4D97-AF65-F5344CB8AC3E}">
        <p14:creationId xmlns:p14="http://schemas.microsoft.com/office/powerpoint/2010/main" val="285481507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3349</TotalTime>
  <Words>296</Words>
  <Application>Microsoft Office PowerPoint</Application>
  <PresentationFormat>Panorámica</PresentationFormat>
  <Paragraphs>88</Paragraphs>
  <Slides>11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Dario Favier Narvaez Calvache</dc:creator>
  <cp:lastModifiedBy>Dario Favier Narvaez Calvache</cp:lastModifiedBy>
  <cp:revision>11</cp:revision>
  <dcterms:created xsi:type="dcterms:W3CDTF">2023-04-24T16:33:20Z</dcterms:created>
  <dcterms:modified xsi:type="dcterms:W3CDTF">2024-01-26T18:59:17Z</dcterms:modified>
</cp:coreProperties>
</file>