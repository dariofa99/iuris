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9" r:id="rId2"/>
    <p:sldId id="256" r:id="rId3"/>
    <p:sldId id="258" r:id="rId4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1AA513"/>
    <a:srgbClr val="EBEDEF"/>
    <a:srgbClr val="F2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5CB44-8BF2-A307-EAC4-36C657F83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FB9F7C-7488-6A7F-9838-775083CD2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80B1D1-FCD8-E5ED-A9BC-AD26E86BA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DCBB257-0E53-EEC2-8941-65D9AD20C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365E16F-3710-84FB-10BD-3462A35DC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409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AB709C-B44E-A865-36F4-77E03967B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747F8A-FCAB-5694-6C74-C967126D7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5CA1BDC-B27E-70E4-24F7-5AA1B623F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FC2A5B3-4FE8-73E9-9E8C-12D34A611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D5750DF-A4B2-0FAC-B820-A6430562A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97160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D489D9-E198-0FE3-D516-9E56D41BA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953CBAE-42C4-5FFF-D67D-D243E1ECCE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70F3EE-2988-482F-917D-CDEF3D0DB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07B011F-C567-B676-3E73-F85453C81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B0F277-AE84-62C8-6783-1D1C72352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41694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FC83BC-2AB7-CDF2-F6E7-C22322288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8B1F9A-B866-4FBD-ADF6-94C702634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5E16FFC-BE66-92E8-2120-8BF844D7B9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C65EB1F-6224-51F0-925B-47C7BC0F2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0C827D-DDC7-15DB-28F4-8F97EA71B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B3DA4C6-36A2-82CB-2348-5D36B8271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2610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4306B6-33AA-33A9-776D-66AE11298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86F923-D0CA-4F56-6D3F-612D7623E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F82FEF-5C36-DBEC-F6CD-C593EEB94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5AA1931-ED0A-0EE6-136C-2BDF9684CB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BC3AC19-3748-1592-5B9D-F42E1CCAD6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6104BD-8D6E-74DE-0E61-D9043FED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95D67D2-93E2-DF36-BC2D-49AF0D9F4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2670877-4880-98C3-5C89-A7607C8EB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68396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94FE6B-026A-42A0-70FD-546804650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4F3D1BC-A565-B6AD-D70E-678C4E629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5D9D63D-BB24-2C47-6728-BB81A0106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7749E4B-A8BB-96C1-F06F-73178D93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48196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07F7F80-FDF1-0DBF-D081-CEE967588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9F6234A-FBAD-2BF5-B3E3-84EA05CFD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6A7CF68-FAE3-D9DA-9155-516577329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8299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5C14D3-2E24-D3DC-2F72-B2DDE5716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CF40B0D-8553-3632-2603-48A2A00A0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F357C5-0786-BAB4-E727-1C55C2750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DD5DE6-63CA-FAA6-FD8D-C413C3346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C547807-D951-8B09-3069-C96FBE86B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7D76CF1-EBF5-BD3F-1364-884E1E90A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64057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C110ED-43E3-FE15-4629-BD2B7422F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6C9C620-FD8F-0644-0772-54897B2CC7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E9C15C0-0485-947C-47CC-B3B9E36EE4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4F39ED6-2929-0374-3430-AF1C07EB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993C96A-A8AC-9F15-84BD-9C9FC478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9447AD9-DDD6-1FE6-69DD-7E669AF9E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2853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9B99B6-61B3-239D-01A0-98B5D1D9F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5853849-0C92-D374-0A1B-806FF023C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4F4F24C-F707-6760-59DC-0D7B77C1A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C47381-4E9A-15AD-84BF-FA78AE99F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FBC33FB-9FE6-31EC-52EE-07603EB83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39203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047D83-E089-45A9-A75B-7DC0EFA1F1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503AA75-2D2C-E99E-9EE9-D9EA399EA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402393-37C0-C0DD-5274-3418894A7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7C41E3B-1E1E-A82F-EA08-972C732EE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BF301D-046C-240E-89B1-7E66495C2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81288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E1767F5-7B90-450E-CFDE-CDC1EDF50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FFA260C-432A-5E26-7F95-2433870E43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CA01C7C-8F47-ED11-D27D-28FA7A88AA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EB7AD6-F7F4-4A3B-9140-B8481AFC5E85}" type="datetimeFigureOut">
              <a:rPr lang="es-CO" smtClean="0"/>
              <a:t>23/05/2023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F61BA5B-37CA-74A7-8EED-2EF86245E1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DD81E8-2AC5-134F-ADB3-076FA17AC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87912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n 15">
            <a:extLst>
              <a:ext uri="{FF2B5EF4-FFF2-40B4-BE49-F238E27FC236}">
                <a16:creationId xmlns:a16="http://schemas.microsoft.com/office/drawing/2014/main" id="{99184DDC-17B3-336F-0A3C-3250807BB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025" y="250873"/>
            <a:ext cx="6096000" cy="6180498"/>
          </a:xfrm>
          <a:prstGeom prst="rect">
            <a:avLst/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A8B8087A-F01D-7BF2-7B9B-803D42A318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0066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7E1BAEB-D355-DE0F-EF5A-E4CC5574A2A8}"/>
              </a:ext>
            </a:extLst>
          </p:cNvPr>
          <p:cNvSpPr txBox="1"/>
          <p:nvPr/>
        </p:nvSpPr>
        <p:spPr>
          <a:xfrm>
            <a:off x="269496" y="1005125"/>
            <a:ext cx="5205500" cy="1771293"/>
          </a:xfrm>
          <a:prstGeom prst="round2SameRect">
            <a:avLst>
              <a:gd name="adj1" fmla="val 3841"/>
              <a:gd name="adj2" fmla="val 0"/>
            </a:avLst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lstStyle/>
          <a:p>
            <a:pPr algn="just"/>
            <a:endParaRPr lang="es-CO" dirty="0"/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s-CO" b="1" dirty="0"/>
              <a:t>Al cerrar el corte se aplicaran notas a aquellos casos que después de asignado tenga mas de 5 días en redactar los datos del caso o respuesta del estudiante.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s-CO" b="1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0609EE1-495E-A80D-AD8C-B0A890710151}"/>
              </a:ext>
            </a:extLst>
          </p:cNvPr>
          <p:cNvSpPr txBox="1"/>
          <p:nvPr/>
        </p:nvSpPr>
        <p:spPr>
          <a:xfrm>
            <a:off x="71191" y="507048"/>
            <a:ext cx="5546469" cy="408623"/>
          </a:xfrm>
          <a:prstGeom prst="round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lstStyle>
            <a:defPPr>
              <a:defRPr lang="es-CO"/>
            </a:defPPr>
            <a:lvl1pPr algn="just"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s-CO" dirty="0"/>
              <a:t>Estimado estudiante tenga en cuenta lo siguiente:</a:t>
            </a:r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0F8C11D3-3C42-C4A7-61A0-5C4948094B3E}"/>
              </a:ext>
            </a:extLst>
          </p:cNvPr>
          <p:cNvSpPr/>
          <p:nvPr/>
        </p:nvSpPr>
        <p:spPr>
          <a:xfrm>
            <a:off x="8374930" y="2742526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Conocimiento</a:t>
            </a:r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ABCBF60F-DDBE-BF0C-0635-73DD99A347C2}"/>
              </a:ext>
            </a:extLst>
          </p:cNvPr>
          <p:cNvSpPr/>
          <p:nvPr/>
        </p:nvSpPr>
        <p:spPr>
          <a:xfrm>
            <a:off x="8374930" y="3096916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Aplicación</a:t>
            </a:r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554B48CA-F605-55A2-1EF5-77444550B7F6}"/>
              </a:ext>
            </a:extLst>
          </p:cNvPr>
          <p:cNvSpPr/>
          <p:nvPr/>
        </p:nvSpPr>
        <p:spPr>
          <a:xfrm>
            <a:off x="8374930" y="3447163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Ética</a:t>
            </a:r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FB23FACC-0927-6527-8210-9E07CFE76CE3}"/>
              </a:ext>
            </a:extLst>
          </p:cNvPr>
          <p:cNvSpPr/>
          <p:nvPr/>
        </p:nvSpPr>
        <p:spPr>
          <a:xfrm>
            <a:off x="8249939" y="3819802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Concepto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95671C8-3B28-B2CD-FF83-79ACF9D3783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6561"/>
          <a:stretch/>
        </p:blipFill>
        <p:spPr>
          <a:xfrm>
            <a:off x="5617660" y="1265356"/>
            <a:ext cx="6574340" cy="464511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C154C18-F086-4C83-BB0B-1F8516777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138" y="1426853"/>
            <a:ext cx="5206655" cy="930849"/>
          </a:xfrm>
          <a:prstGeom prst="rect">
            <a:avLst/>
          </a:prstGeom>
        </p:spPr>
      </p:pic>
      <p:pic>
        <p:nvPicPr>
          <p:cNvPr id="45" name="Gráfico 44" descr="Lupa">
            <a:extLst>
              <a:ext uri="{FF2B5EF4-FFF2-40B4-BE49-F238E27FC236}">
                <a16:creationId xmlns:a16="http://schemas.microsoft.com/office/drawing/2014/main" id="{F69B865E-9B16-5794-6A67-0567EA8D5C7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7681" t="8073" b="8034"/>
          <a:stretch/>
        </p:blipFill>
        <p:spPr>
          <a:xfrm rot="6564120">
            <a:off x="7828760" y="404965"/>
            <a:ext cx="4447765" cy="4066781"/>
          </a:xfrm>
          <a:prstGeom prst="rect">
            <a:avLst/>
          </a:prstGeom>
        </p:spPr>
      </p:pic>
      <p:sp>
        <p:nvSpPr>
          <p:cNvPr id="34" name="CuadroTexto 33">
            <a:extLst>
              <a:ext uri="{FF2B5EF4-FFF2-40B4-BE49-F238E27FC236}">
                <a16:creationId xmlns:a16="http://schemas.microsoft.com/office/drawing/2014/main" id="{97B49A1F-CE3C-01F0-779D-C75766075C77}"/>
              </a:ext>
            </a:extLst>
          </p:cNvPr>
          <p:cNvSpPr txBox="1"/>
          <p:nvPr/>
        </p:nvSpPr>
        <p:spPr>
          <a:xfrm>
            <a:off x="196753" y="3096916"/>
            <a:ext cx="5295344" cy="1328023"/>
          </a:xfrm>
          <a:prstGeom prst="round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lstStyle>
            <a:defPPr>
              <a:defRPr lang="es-CO"/>
            </a:defPPr>
            <a:lvl1pPr algn="just"/>
          </a:lstStyle>
          <a:p>
            <a:r>
              <a:rPr lang="es-CO" b="1" dirty="0"/>
              <a:t>Nota</a:t>
            </a:r>
            <a:r>
              <a:rPr lang="es-CO" dirty="0"/>
              <a:t>: Si el caso es reasignado no lo exime del ítem anterior, ya que es deber del estudiante comunicarse con la usuaria o usuario y redactar nuevamente según su entendimiento.</a:t>
            </a:r>
          </a:p>
        </p:txBody>
      </p:sp>
    </p:spTree>
    <p:extLst>
      <p:ext uri="{BB962C8B-B14F-4D97-AF65-F5344CB8AC3E}">
        <p14:creationId xmlns:p14="http://schemas.microsoft.com/office/powerpoint/2010/main" val="1776731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  <a:alpha val="72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n 15">
            <a:extLst>
              <a:ext uri="{FF2B5EF4-FFF2-40B4-BE49-F238E27FC236}">
                <a16:creationId xmlns:a16="http://schemas.microsoft.com/office/drawing/2014/main" id="{99184DDC-17B3-336F-0A3C-3250807BB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025" y="250873"/>
            <a:ext cx="6096000" cy="6180498"/>
          </a:xfrm>
          <a:prstGeom prst="rect">
            <a:avLst/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A8B8087A-F01D-7BF2-7B9B-803D42A318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A513">
              <a:alpha val="3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7E1BAEB-D355-DE0F-EF5A-E4CC5574A2A8}"/>
              </a:ext>
            </a:extLst>
          </p:cNvPr>
          <p:cNvSpPr txBox="1"/>
          <p:nvPr/>
        </p:nvSpPr>
        <p:spPr>
          <a:xfrm>
            <a:off x="269496" y="1005125"/>
            <a:ext cx="5205500" cy="4847749"/>
          </a:xfrm>
          <a:prstGeom prst="round2SameRect">
            <a:avLst>
              <a:gd name="adj1" fmla="val 3841"/>
              <a:gd name="adj2" fmla="val 0"/>
            </a:avLst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lstStyle/>
          <a:p>
            <a:pPr algn="just"/>
            <a:endParaRPr lang="es-CO" dirty="0"/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s-CO" b="1" dirty="0"/>
              <a:t>Al cerrar el corte se aplicaran notas a aquellos casos de seguimiento que después de 30 días de asignado NO tienen actuaciones (o anexos). También a aquellos que tienen entre una actuación y otra mas de 30 días.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s-CO" b="1" dirty="0"/>
              <a:t>En el reporte de notas usted podrá ver de manera detallada el motivo de la nota. Si la nota se aplicó por lo expresado en el </a:t>
            </a:r>
            <a:r>
              <a:rPr lang="es-CO" b="1" dirty="0" err="1"/>
              <a:t>item</a:t>
            </a:r>
            <a:r>
              <a:rPr lang="es-CO" b="1" dirty="0"/>
              <a:t> anterior el sistema le indica el periodo evaluado.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s-CO" b="1" dirty="0"/>
              <a:t>Para verificar el periodo ingrese al caso y en la pestaña de actuaciones, en el listado puede ver la fecha de creación.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s-CO" b="1" dirty="0"/>
              <a:t>Recuerde que solo se tendrán en cuenta aquellas actuaciones creadas por el estudiante, mas no las creadas por el docente asesor y aquellos anexos que no estén anulados.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0609EE1-495E-A80D-AD8C-B0A890710151}"/>
              </a:ext>
            </a:extLst>
          </p:cNvPr>
          <p:cNvSpPr txBox="1"/>
          <p:nvPr/>
        </p:nvSpPr>
        <p:spPr>
          <a:xfrm>
            <a:off x="71191" y="507048"/>
            <a:ext cx="5546469" cy="408623"/>
          </a:xfrm>
          <a:prstGeom prst="round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lstStyle>
            <a:defPPr>
              <a:defRPr lang="es-CO"/>
            </a:defPPr>
            <a:lvl1pPr algn="just"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s-CO" dirty="0"/>
              <a:t>Estimado estudiante tenga en cuenta lo siguiente: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9A4DA2B7-9B4A-5FD1-E61F-594084326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4464" y="301672"/>
            <a:ext cx="6340732" cy="290043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20" name="Flecha: arriba y abajo 19">
            <a:extLst>
              <a:ext uri="{FF2B5EF4-FFF2-40B4-BE49-F238E27FC236}">
                <a16:creationId xmlns:a16="http://schemas.microsoft.com/office/drawing/2014/main" id="{B0CFC603-9496-72A3-0EA0-40CAF706B026}"/>
              </a:ext>
            </a:extLst>
          </p:cNvPr>
          <p:cNvSpPr/>
          <p:nvPr/>
        </p:nvSpPr>
        <p:spPr>
          <a:xfrm>
            <a:off x="11264649" y="2162229"/>
            <a:ext cx="177299" cy="436099"/>
          </a:xfrm>
          <a:prstGeom prst="up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2" name="Flecha: arriba y abajo 21">
            <a:extLst>
              <a:ext uri="{FF2B5EF4-FFF2-40B4-BE49-F238E27FC236}">
                <a16:creationId xmlns:a16="http://schemas.microsoft.com/office/drawing/2014/main" id="{25A4025E-8E2E-F8EE-A06B-9A4274F7904D}"/>
              </a:ext>
            </a:extLst>
          </p:cNvPr>
          <p:cNvSpPr/>
          <p:nvPr/>
        </p:nvSpPr>
        <p:spPr>
          <a:xfrm>
            <a:off x="11264649" y="1328385"/>
            <a:ext cx="177299" cy="436099"/>
          </a:xfrm>
          <a:prstGeom prst="up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9C3D4B20-63DD-3680-857C-38710B747EF8}"/>
              </a:ext>
            </a:extLst>
          </p:cNvPr>
          <p:cNvSpPr/>
          <p:nvPr/>
        </p:nvSpPr>
        <p:spPr>
          <a:xfrm>
            <a:off x="5786412" y="907158"/>
            <a:ext cx="4810109" cy="70597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3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31BF783D-3BDF-57A3-102B-B03418B30E08}"/>
              </a:ext>
            </a:extLst>
          </p:cNvPr>
          <p:cNvSpPr/>
          <p:nvPr/>
        </p:nvSpPr>
        <p:spPr>
          <a:xfrm>
            <a:off x="5786412" y="1679484"/>
            <a:ext cx="4810109" cy="7112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2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60382C07-4DC0-C195-ADC4-E8177385D3F6}"/>
              </a:ext>
            </a:extLst>
          </p:cNvPr>
          <p:cNvSpPr/>
          <p:nvPr/>
        </p:nvSpPr>
        <p:spPr>
          <a:xfrm>
            <a:off x="5786412" y="2440103"/>
            <a:ext cx="4810109" cy="7112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1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D65F22FE-C3CC-98BC-033F-7D0B73AC22F0}"/>
              </a:ext>
            </a:extLst>
          </p:cNvPr>
          <p:cNvSpPr/>
          <p:nvPr/>
        </p:nvSpPr>
        <p:spPr>
          <a:xfrm>
            <a:off x="10735059" y="907158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04-17-2023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2E38185E-328B-9863-B21B-04C76E33B7C5}"/>
              </a:ext>
            </a:extLst>
          </p:cNvPr>
          <p:cNvSpPr/>
          <p:nvPr/>
        </p:nvSpPr>
        <p:spPr>
          <a:xfrm>
            <a:off x="10719802" y="1815283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03-23-2023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0A3A0831-102F-E364-A31A-5287AA2245D6}"/>
              </a:ext>
            </a:extLst>
          </p:cNvPr>
          <p:cNvSpPr/>
          <p:nvPr/>
        </p:nvSpPr>
        <p:spPr>
          <a:xfrm>
            <a:off x="10719802" y="2623728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02-10-2023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97B49A1F-CE3C-01F0-779D-C75766075C77}"/>
              </a:ext>
            </a:extLst>
          </p:cNvPr>
          <p:cNvSpPr txBox="1"/>
          <p:nvPr/>
        </p:nvSpPr>
        <p:spPr>
          <a:xfrm>
            <a:off x="269496" y="5699064"/>
            <a:ext cx="5205500" cy="1021556"/>
          </a:xfrm>
          <a:prstGeom prst="round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lstStyle>
            <a:defPPr>
              <a:defRPr lang="es-CO"/>
            </a:defPPr>
            <a:lvl1pPr algn="just"/>
          </a:lstStyle>
          <a:p>
            <a:r>
              <a:rPr lang="es-CO" dirty="0"/>
              <a:t>Si después de revisar evidencia que el sistema le puso una nota por fuera de los parámetros establecidos comuníquese al 3106038006</a:t>
            </a: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D5853CEA-810C-67E6-860C-D713A3A1C1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4464" y="3282517"/>
            <a:ext cx="6340732" cy="31146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0F8C11D3-3C42-C4A7-61A0-5C4948094B3E}"/>
              </a:ext>
            </a:extLst>
          </p:cNvPr>
          <p:cNvSpPr/>
          <p:nvPr/>
        </p:nvSpPr>
        <p:spPr>
          <a:xfrm>
            <a:off x="8364902" y="4293030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Conocimiento</a:t>
            </a:r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ABCBF60F-DDBE-BF0C-0635-73DD99A347C2}"/>
              </a:ext>
            </a:extLst>
          </p:cNvPr>
          <p:cNvSpPr/>
          <p:nvPr/>
        </p:nvSpPr>
        <p:spPr>
          <a:xfrm>
            <a:off x="8364902" y="4647420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Aplicación</a:t>
            </a:r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554B48CA-F605-55A2-1EF5-77444550B7F6}"/>
              </a:ext>
            </a:extLst>
          </p:cNvPr>
          <p:cNvSpPr/>
          <p:nvPr/>
        </p:nvSpPr>
        <p:spPr>
          <a:xfrm>
            <a:off x="8364902" y="4997667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Ética</a:t>
            </a:r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FB23FACC-0927-6527-8210-9E07CFE76CE3}"/>
              </a:ext>
            </a:extLst>
          </p:cNvPr>
          <p:cNvSpPr/>
          <p:nvPr/>
        </p:nvSpPr>
        <p:spPr>
          <a:xfrm>
            <a:off x="8239911" y="5370306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Concepto</a:t>
            </a:r>
          </a:p>
        </p:txBody>
      </p:sp>
      <p:pic>
        <p:nvPicPr>
          <p:cNvPr id="43" name="Imagen 42">
            <a:extLst>
              <a:ext uri="{FF2B5EF4-FFF2-40B4-BE49-F238E27FC236}">
                <a16:creationId xmlns:a16="http://schemas.microsoft.com/office/drawing/2014/main" id="{CFBF11B3-35EA-96C3-2C34-8CA8D1FE40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5033" y="4920926"/>
            <a:ext cx="2250314" cy="1274618"/>
          </a:xfrm>
          <a:prstGeom prst="rect">
            <a:avLst/>
          </a:prstGeom>
        </p:spPr>
      </p:pic>
      <p:sp>
        <p:nvSpPr>
          <p:cNvPr id="46" name="Rectángulo 45">
            <a:extLst>
              <a:ext uri="{FF2B5EF4-FFF2-40B4-BE49-F238E27FC236}">
                <a16:creationId xmlns:a16="http://schemas.microsoft.com/office/drawing/2014/main" id="{E36FE3F4-9027-D2B2-0CA0-775BBDEE594D}"/>
              </a:ext>
            </a:extLst>
          </p:cNvPr>
          <p:cNvSpPr/>
          <p:nvPr/>
        </p:nvSpPr>
        <p:spPr>
          <a:xfrm>
            <a:off x="9170815" y="6195544"/>
            <a:ext cx="2250314" cy="133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45" name="Gráfico 44" descr="Lupa">
            <a:extLst>
              <a:ext uri="{FF2B5EF4-FFF2-40B4-BE49-F238E27FC236}">
                <a16:creationId xmlns:a16="http://schemas.microsoft.com/office/drawing/2014/main" id="{F69B865E-9B16-5794-6A67-0567EA8D5C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0800000">
            <a:off x="7818335" y="2883760"/>
            <a:ext cx="4735291" cy="436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916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  <a:alpha val="8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n 15">
            <a:extLst>
              <a:ext uri="{FF2B5EF4-FFF2-40B4-BE49-F238E27FC236}">
                <a16:creationId xmlns:a16="http://schemas.microsoft.com/office/drawing/2014/main" id="{99184DDC-17B3-336F-0A3C-3250807BB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025" y="250873"/>
            <a:ext cx="6096000" cy="6180498"/>
          </a:xfrm>
          <a:prstGeom prst="rect">
            <a:avLst/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A8B8087A-F01D-7BF2-7B9B-803D42A318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>
              <a:lumMod val="60000"/>
              <a:lumOff val="40000"/>
              <a:alpha val="4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0609EE1-495E-A80D-AD8C-B0A890710151}"/>
              </a:ext>
            </a:extLst>
          </p:cNvPr>
          <p:cNvSpPr txBox="1"/>
          <p:nvPr/>
        </p:nvSpPr>
        <p:spPr>
          <a:xfrm>
            <a:off x="6096000" y="1169838"/>
            <a:ext cx="5546469" cy="783193"/>
          </a:xfrm>
          <a:prstGeom prst="roundRect">
            <a:avLst/>
          </a:prstGeom>
          <a:solidFill>
            <a:schemeClr val="bg1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s-CO" sz="2000" b="1" dirty="0">
                <a:solidFill>
                  <a:schemeClr val="tx1"/>
                </a:solidFill>
              </a:rPr>
              <a:t>Podrá ver los días transcurridos desde la última actuación creada por el estudiante. 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3840909-DCDF-03B8-9C35-023867658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979" y="2147959"/>
            <a:ext cx="9485995" cy="79884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E1752E8-4D6C-4F5B-12EF-C298828F1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979" y="2926487"/>
            <a:ext cx="9485995" cy="27873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AC16F70E-2437-B3CA-8043-2E596EF5E886}"/>
              </a:ext>
            </a:extLst>
          </p:cNvPr>
          <p:cNvSpPr/>
          <p:nvPr/>
        </p:nvSpPr>
        <p:spPr>
          <a:xfrm>
            <a:off x="1074928" y="3531973"/>
            <a:ext cx="7196120" cy="652280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5AB78E7-5551-B361-66CD-9721AC6FAF10}"/>
              </a:ext>
            </a:extLst>
          </p:cNvPr>
          <p:cNvSpPr/>
          <p:nvPr/>
        </p:nvSpPr>
        <p:spPr>
          <a:xfrm>
            <a:off x="1074928" y="4304299"/>
            <a:ext cx="7196120" cy="65710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3C972495-2D07-12B4-0094-D390A65D78A9}"/>
              </a:ext>
            </a:extLst>
          </p:cNvPr>
          <p:cNvSpPr/>
          <p:nvPr/>
        </p:nvSpPr>
        <p:spPr>
          <a:xfrm>
            <a:off x="1074928" y="5033922"/>
            <a:ext cx="7196120" cy="65710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2F24D87C-6A26-FBEF-E147-15FE22047AB3}"/>
              </a:ext>
            </a:extLst>
          </p:cNvPr>
          <p:cNvSpPr/>
          <p:nvPr/>
        </p:nvSpPr>
        <p:spPr>
          <a:xfrm>
            <a:off x="9205734" y="3441806"/>
            <a:ext cx="1201598" cy="383811"/>
          </a:xfrm>
          <a:prstGeom prst="roundRect">
            <a:avLst/>
          </a:prstGeom>
          <a:solidFill>
            <a:srgbClr val="EBED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600" dirty="0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9487ED99-1B46-CA27-09AF-BF8E2533B3E7}"/>
              </a:ext>
            </a:extLst>
          </p:cNvPr>
          <p:cNvSpPr/>
          <p:nvPr/>
        </p:nvSpPr>
        <p:spPr>
          <a:xfrm>
            <a:off x="9193421" y="4466156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03-23-2023</a:t>
            </a: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8252CFC8-2220-A7D2-CEAC-0AAFAC53BCB0}"/>
              </a:ext>
            </a:extLst>
          </p:cNvPr>
          <p:cNvSpPr/>
          <p:nvPr/>
        </p:nvSpPr>
        <p:spPr>
          <a:xfrm>
            <a:off x="9205734" y="3680084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04-17-2023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C1FED2DA-A074-28E7-DAE1-7F0D409464A9}"/>
              </a:ext>
            </a:extLst>
          </p:cNvPr>
          <p:cNvSpPr/>
          <p:nvPr/>
        </p:nvSpPr>
        <p:spPr>
          <a:xfrm>
            <a:off x="9193421" y="5023058"/>
            <a:ext cx="1201598" cy="383811"/>
          </a:xfrm>
          <a:prstGeom prst="roundRect">
            <a:avLst/>
          </a:prstGeom>
          <a:solidFill>
            <a:srgbClr val="EBED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600" dirty="0"/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285201FC-305B-4087-CCDC-F580729868EC}"/>
              </a:ext>
            </a:extLst>
          </p:cNvPr>
          <p:cNvSpPr/>
          <p:nvPr/>
        </p:nvSpPr>
        <p:spPr>
          <a:xfrm>
            <a:off x="9193421" y="5156942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02-10-2023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8B5581A8-D719-F51F-DD77-C5700C670B11}"/>
              </a:ext>
            </a:extLst>
          </p:cNvPr>
          <p:cNvSpPr txBox="1"/>
          <p:nvPr/>
        </p:nvSpPr>
        <p:spPr>
          <a:xfrm>
            <a:off x="4846220" y="2274584"/>
            <a:ext cx="5010703" cy="36933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s-MX" b="1" i="0" dirty="0">
                <a:solidFill>
                  <a:srgbClr val="333333"/>
                </a:solidFill>
                <a:effectLst/>
                <a:latin typeface="Source Sans Pro" panose="020B0503030403020204" pitchFamily="34" charset="0"/>
              </a:rPr>
              <a:t>Días transcurridos desde última actuación:</a:t>
            </a:r>
            <a:endParaRPr lang="es-CO" dirty="0"/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D2A5A662-C261-2511-8656-3FB082E7E961}"/>
              </a:ext>
            </a:extLst>
          </p:cNvPr>
          <p:cNvSpPr/>
          <p:nvPr/>
        </p:nvSpPr>
        <p:spPr>
          <a:xfrm>
            <a:off x="9670442" y="2189795"/>
            <a:ext cx="606672" cy="538846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/>
              <a:t>10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513749D9-0B4B-B894-3707-4AC058864561}"/>
              </a:ext>
            </a:extLst>
          </p:cNvPr>
          <p:cNvSpPr/>
          <p:nvPr/>
        </p:nvSpPr>
        <p:spPr>
          <a:xfrm>
            <a:off x="1025048" y="3490930"/>
            <a:ext cx="7246000" cy="70597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3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389482CE-73CB-8013-C11F-5F003538D1C2}"/>
              </a:ext>
            </a:extLst>
          </p:cNvPr>
          <p:cNvSpPr/>
          <p:nvPr/>
        </p:nvSpPr>
        <p:spPr>
          <a:xfrm>
            <a:off x="1025048" y="4263256"/>
            <a:ext cx="7246000" cy="7112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2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79D3B8AD-AD15-8F00-2CB3-90680F291803}"/>
              </a:ext>
            </a:extLst>
          </p:cNvPr>
          <p:cNvSpPr/>
          <p:nvPr/>
        </p:nvSpPr>
        <p:spPr>
          <a:xfrm>
            <a:off x="1025048" y="5023875"/>
            <a:ext cx="7246000" cy="7112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1</a:t>
            </a:r>
          </a:p>
        </p:txBody>
      </p:sp>
    </p:spTree>
    <p:extLst>
      <p:ext uri="{BB962C8B-B14F-4D97-AF65-F5344CB8AC3E}">
        <p14:creationId xmlns:p14="http://schemas.microsoft.com/office/powerpoint/2010/main" val="20007490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2957</TotalTime>
  <Words>279</Words>
  <Application>Microsoft Office PowerPoint</Application>
  <PresentationFormat>Panorámica</PresentationFormat>
  <Paragraphs>34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Source Sans Pro</vt:lpstr>
      <vt:lpstr>Wingdings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Dario Favier Narvaez Calvache</dc:creator>
  <cp:lastModifiedBy>Dario Favier Narvaez Calvache</cp:lastModifiedBy>
  <cp:revision>5</cp:revision>
  <dcterms:created xsi:type="dcterms:W3CDTF">2023-04-24T16:33:20Z</dcterms:created>
  <dcterms:modified xsi:type="dcterms:W3CDTF">2023-05-24T03:59:37Z</dcterms:modified>
</cp:coreProperties>
</file>